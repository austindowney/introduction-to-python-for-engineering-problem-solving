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handoutMasterIdLst>
    <p:handoutMasterId r:id="rId25"/>
  </p:handoutMasterIdLst>
  <p:sldIdLst>
    <p:sldId id="256" r:id="rId2"/>
    <p:sldId id="281" r:id="rId3"/>
    <p:sldId id="282" r:id="rId4"/>
    <p:sldId id="283" r:id="rId5"/>
    <p:sldId id="284" r:id="rId6"/>
    <p:sldId id="262" r:id="rId7"/>
    <p:sldId id="263" r:id="rId8"/>
    <p:sldId id="264" r:id="rId9"/>
    <p:sldId id="260" r:id="rId10"/>
    <p:sldId id="265" r:id="rId11"/>
    <p:sldId id="268" r:id="rId12"/>
    <p:sldId id="269" r:id="rId13"/>
    <p:sldId id="276" r:id="rId14"/>
    <p:sldId id="277" r:id="rId15"/>
    <p:sldId id="278" r:id="rId16"/>
    <p:sldId id="279" r:id="rId17"/>
    <p:sldId id="280" r:id="rId18"/>
    <p:sldId id="270" r:id="rId19"/>
    <p:sldId id="271" r:id="rId20"/>
    <p:sldId id="273" r:id="rId21"/>
    <p:sldId id="272" r:id="rId22"/>
    <p:sldId id="25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0EA008-82DD-4DE9-8E33-4EFB8D869763}" v="66" dt="2024-06-17T18:43:59.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94694"/>
  </p:normalViewPr>
  <p:slideViewPr>
    <p:cSldViewPr snapToGrid="0" snapToObjects="1">
      <p:cViewPr varScale="1">
        <p:scale>
          <a:sx n="112" d="100"/>
          <a:sy n="112" d="100"/>
        </p:scale>
        <p:origin x="522" y="9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63" d="100"/>
          <a:sy n="163" d="100"/>
        </p:scale>
        <p:origin x="45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84E1E-E540-AC43-BC13-F90D55305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041BA6-039E-8F4D-B7F7-3C8E20B4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038C9C-4B69-864E-9EEE-DFA43CC144D2}" type="datetimeFigureOut">
              <a:rPr lang="en-US" smtClean="0"/>
              <a:t>10/27/2025</a:t>
            </a:fld>
            <a:endParaRPr lang="en-US"/>
          </a:p>
        </p:txBody>
      </p:sp>
      <p:sp>
        <p:nvSpPr>
          <p:cNvPr id="4" name="Footer Placeholder 3">
            <a:extLst>
              <a:ext uri="{FF2B5EF4-FFF2-40B4-BE49-F238E27FC236}">
                <a16:creationId xmlns:a16="http://schemas.microsoft.com/office/drawing/2014/main" id="{DD469921-4617-FB4C-9847-172FF83023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50DCBB-D829-754E-9E76-36A9E3643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47A92-5E9C-F94E-8B11-4D34C67AD036}" type="slidenum">
              <a:rPr lang="en-US" smtClean="0"/>
              <a:t>‹#›</a:t>
            </a:fld>
            <a:endParaRPr lang="en-US"/>
          </a:p>
        </p:txBody>
      </p:sp>
    </p:spTree>
    <p:extLst>
      <p:ext uri="{BB962C8B-B14F-4D97-AF65-F5344CB8AC3E}">
        <p14:creationId xmlns:p14="http://schemas.microsoft.com/office/powerpoint/2010/main" val="15392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A61E-B1D6-C34D-A321-B3E90F6DE630}" type="datetimeFigureOut">
              <a:rPr lang="en-US" smtClean="0"/>
              <a:t>10/27/2025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3E603-0EE4-3042-9661-047EB577E4A2}" type="slidenum">
              <a:rPr lang="en-US" smtClean="0"/>
              <a:t>‹#›</a:t>
            </a:fld>
            <a:endParaRPr lang="en-US"/>
          </a:p>
        </p:txBody>
      </p:sp>
    </p:spTree>
    <p:extLst>
      <p:ext uri="{BB962C8B-B14F-4D97-AF65-F5344CB8AC3E}">
        <p14:creationId xmlns:p14="http://schemas.microsoft.com/office/powerpoint/2010/main" val="310394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56396554-3117-4F69-9069-5B338DF26D06}" type="slidenum">
              <a:rPr lang="en-US" sz="1400" b="0" strike="noStrike" spc="-1">
                <a:solidFill>
                  <a:srgbClr val="000000"/>
                </a:solidFill>
                <a:latin typeface="Times New Roman"/>
                <a:ea typeface="+mn-ea"/>
              </a:rPr>
              <a:t>2</a:t>
            </a:fld>
            <a:endParaRPr lang="en-US" sz="1400" b="0" strike="noStrike" spc="-1">
              <a:latin typeface="Arial"/>
            </a:endParaRPr>
          </a:p>
        </p:txBody>
      </p:sp>
      <p:sp>
        <p:nvSpPr>
          <p:cNvPr id="224" name="PlaceHolder 2"/>
          <p:cNvSpPr>
            <a:spLocks noGrp="1" noRot="1" noChangeAspect="1"/>
          </p:cNvSpPr>
          <p:nvPr>
            <p:ph type="sldImg"/>
          </p:nvPr>
        </p:nvSpPr>
        <p:spPr>
          <a:xfrm>
            <a:off x="533400" y="763588"/>
            <a:ext cx="6704013" cy="3771900"/>
          </a:xfrm>
          <a:prstGeom prst="rect">
            <a:avLst/>
          </a:prstGeom>
        </p:spPr>
      </p:sp>
      <p:sp>
        <p:nvSpPr>
          <p:cNvPr id="225"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56396554-3117-4F69-9069-5B338DF26D06}" type="slidenum">
              <a:rPr lang="en-US" sz="1400" b="0" strike="noStrike" spc="-1">
                <a:solidFill>
                  <a:srgbClr val="000000"/>
                </a:solidFill>
                <a:latin typeface="Times New Roman"/>
                <a:ea typeface="+mn-ea"/>
              </a:rPr>
              <a:t>3</a:t>
            </a:fld>
            <a:endParaRPr lang="en-US" sz="1400" b="0" strike="noStrike" spc="-1">
              <a:latin typeface="Arial"/>
            </a:endParaRPr>
          </a:p>
        </p:txBody>
      </p:sp>
      <p:sp>
        <p:nvSpPr>
          <p:cNvPr id="224" name="PlaceHolder 2"/>
          <p:cNvSpPr>
            <a:spLocks noGrp="1" noRot="1" noChangeAspect="1"/>
          </p:cNvSpPr>
          <p:nvPr>
            <p:ph type="sldImg"/>
          </p:nvPr>
        </p:nvSpPr>
        <p:spPr>
          <a:xfrm>
            <a:off x="533400" y="763588"/>
            <a:ext cx="6704013" cy="3771900"/>
          </a:xfrm>
          <a:prstGeom prst="rect">
            <a:avLst/>
          </a:prstGeom>
        </p:spPr>
      </p:sp>
      <p:sp>
        <p:nvSpPr>
          <p:cNvPr id="225"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extLst>
      <p:ext uri="{BB962C8B-B14F-4D97-AF65-F5344CB8AC3E}">
        <p14:creationId xmlns:p14="http://schemas.microsoft.com/office/powerpoint/2010/main" val="3666945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56396554-3117-4F69-9069-5B338DF26D06}" type="slidenum">
              <a:rPr lang="en-US" sz="1400" b="0" strike="noStrike" spc="-1">
                <a:solidFill>
                  <a:srgbClr val="000000"/>
                </a:solidFill>
                <a:latin typeface="Times New Roman"/>
                <a:ea typeface="+mn-ea"/>
              </a:rPr>
              <a:t>4</a:t>
            </a:fld>
            <a:endParaRPr lang="en-US" sz="1400" b="0" strike="noStrike" spc="-1">
              <a:latin typeface="Arial"/>
            </a:endParaRPr>
          </a:p>
        </p:txBody>
      </p:sp>
      <p:sp>
        <p:nvSpPr>
          <p:cNvPr id="224" name="PlaceHolder 2"/>
          <p:cNvSpPr>
            <a:spLocks noGrp="1" noRot="1" noChangeAspect="1"/>
          </p:cNvSpPr>
          <p:nvPr>
            <p:ph type="sldImg"/>
          </p:nvPr>
        </p:nvSpPr>
        <p:spPr>
          <a:xfrm>
            <a:off x="533400" y="763588"/>
            <a:ext cx="6704013" cy="3771900"/>
          </a:xfrm>
          <a:prstGeom prst="rect">
            <a:avLst/>
          </a:prstGeom>
        </p:spPr>
      </p:sp>
      <p:sp>
        <p:nvSpPr>
          <p:cNvPr id="225"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extLst>
      <p:ext uri="{BB962C8B-B14F-4D97-AF65-F5344CB8AC3E}">
        <p14:creationId xmlns:p14="http://schemas.microsoft.com/office/powerpoint/2010/main" val="3898790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D9B14F91-CFCB-4C79-896E-5E0F3621E8C9}" type="slidenum">
              <a:rPr lang="en-US" sz="1400" b="0" strike="noStrike" spc="-1">
                <a:solidFill>
                  <a:srgbClr val="000000"/>
                </a:solidFill>
                <a:latin typeface="Times New Roman"/>
                <a:ea typeface="+mn-ea"/>
              </a:rPr>
              <a:t>5</a:t>
            </a:fld>
            <a:endParaRPr lang="en-US" sz="1400" b="0" strike="noStrike" spc="-1">
              <a:latin typeface="Arial"/>
            </a:endParaRPr>
          </a:p>
        </p:txBody>
      </p:sp>
      <p:sp>
        <p:nvSpPr>
          <p:cNvPr id="209" name="PlaceHolder 2"/>
          <p:cNvSpPr>
            <a:spLocks noGrp="1" noRot="1" noChangeAspect="1"/>
          </p:cNvSpPr>
          <p:nvPr>
            <p:ph type="sldImg"/>
          </p:nvPr>
        </p:nvSpPr>
        <p:spPr>
          <a:xfrm>
            <a:off x="533400" y="763588"/>
            <a:ext cx="6704013" cy="3771900"/>
          </a:xfrm>
          <a:prstGeom prst="rect">
            <a:avLst/>
          </a:prstGeom>
        </p:spPr>
      </p:sp>
      <p:sp>
        <p:nvSpPr>
          <p:cNvPr id="210"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extLst>
      <p:ext uri="{BB962C8B-B14F-4D97-AF65-F5344CB8AC3E}">
        <p14:creationId xmlns:p14="http://schemas.microsoft.com/office/powerpoint/2010/main" val="2066806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D9B14F91-CFCB-4C79-896E-5E0F3621E8C9}" type="slidenum">
              <a:rPr lang="en-US" sz="1400" b="0" strike="noStrike" spc="-1">
                <a:solidFill>
                  <a:srgbClr val="000000"/>
                </a:solidFill>
                <a:latin typeface="Times New Roman"/>
                <a:ea typeface="+mn-ea"/>
              </a:rPr>
              <a:t>6</a:t>
            </a:fld>
            <a:endParaRPr lang="en-US" sz="1400" b="0" strike="noStrike" spc="-1">
              <a:latin typeface="Arial"/>
            </a:endParaRPr>
          </a:p>
        </p:txBody>
      </p:sp>
      <p:sp>
        <p:nvSpPr>
          <p:cNvPr id="209" name="PlaceHolder 2"/>
          <p:cNvSpPr>
            <a:spLocks noGrp="1" noRot="1" noChangeAspect="1"/>
          </p:cNvSpPr>
          <p:nvPr>
            <p:ph type="sldImg"/>
          </p:nvPr>
        </p:nvSpPr>
        <p:spPr>
          <a:xfrm>
            <a:off x="533400" y="763588"/>
            <a:ext cx="6704013" cy="3771900"/>
          </a:xfrm>
          <a:prstGeom prst="rect">
            <a:avLst/>
          </a:prstGeom>
        </p:spPr>
      </p:sp>
      <p:sp>
        <p:nvSpPr>
          <p:cNvPr id="210"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28F3FFDF-25E8-4838-8C98-87A4517033A9}" type="slidenum">
              <a:rPr lang="en-US" sz="1400" b="0" strike="noStrike" spc="-1">
                <a:solidFill>
                  <a:srgbClr val="000000"/>
                </a:solidFill>
                <a:latin typeface="Times New Roman"/>
                <a:ea typeface="+mn-ea"/>
              </a:rPr>
              <a:t>7</a:t>
            </a:fld>
            <a:endParaRPr lang="en-US" sz="1400" b="0" strike="noStrike" spc="-1">
              <a:latin typeface="Arial"/>
            </a:endParaRPr>
          </a:p>
        </p:txBody>
      </p:sp>
      <p:sp>
        <p:nvSpPr>
          <p:cNvPr id="212" name="PlaceHolder 2"/>
          <p:cNvSpPr>
            <a:spLocks noGrp="1" noRot="1" noChangeAspect="1"/>
          </p:cNvSpPr>
          <p:nvPr>
            <p:ph type="sldImg"/>
          </p:nvPr>
        </p:nvSpPr>
        <p:spPr>
          <a:xfrm>
            <a:off x="533400" y="763588"/>
            <a:ext cx="6704013" cy="3771900"/>
          </a:xfrm>
          <a:prstGeom prst="rect">
            <a:avLst/>
          </a:prstGeom>
        </p:spPr>
      </p:sp>
      <p:sp>
        <p:nvSpPr>
          <p:cNvPr id="213"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7C3EB327-7586-40CE-ABCA-1782010D3362}" type="slidenum">
              <a:rPr lang="en-US" sz="1400" b="0" strike="noStrike" spc="-1">
                <a:solidFill>
                  <a:srgbClr val="000000"/>
                </a:solidFill>
                <a:latin typeface="Times New Roman"/>
                <a:ea typeface="+mn-ea"/>
              </a:rPr>
              <a:t>8</a:t>
            </a:fld>
            <a:endParaRPr lang="en-US" sz="1400" b="0" strike="noStrike" spc="-1">
              <a:latin typeface="Arial"/>
            </a:endParaRPr>
          </a:p>
        </p:txBody>
      </p:sp>
      <p:sp>
        <p:nvSpPr>
          <p:cNvPr id="215" name="PlaceHolder 2"/>
          <p:cNvSpPr>
            <a:spLocks noGrp="1" noRot="1" noChangeAspect="1"/>
          </p:cNvSpPr>
          <p:nvPr>
            <p:ph type="sldImg"/>
          </p:nvPr>
        </p:nvSpPr>
        <p:spPr>
          <a:xfrm>
            <a:off x="533400" y="763588"/>
            <a:ext cx="6704013" cy="3771900"/>
          </a:xfrm>
          <a:prstGeom prst="rect">
            <a:avLst/>
          </a:prstGeom>
        </p:spPr>
      </p:sp>
      <p:sp>
        <p:nvSpPr>
          <p:cNvPr id="216"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3945B945-00D5-458F-B3BE-6F76599AFA40}" type="slidenum">
              <a:rPr lang="en-US" sz="1400" b="0" strike="noStrike" spc="-1">
                <a:solidFill>
                  <a:srgbClr val="000000"/>
                </a:solidFill>
                <a:latin typeface="Times New Roman"/>
                <a:ea typeface="+mn-ea"/>
              </a:rPr>
              <a:t>9</a:t>
            </a:fld>
            <a:endParaRPr lang="en-US" sz="1400" b="0" strike="noStrike" spc="-1">
              <a:latin typeface="Arial"/>
            </a:endParaRPr>
          </a:p>
        </p:txBody>
      </p:sp>
      <p:sp>
        <p:nvSpPr>
          <p:cNvPr id="218" name="PlaceHolder 2"/>
          <p:cNvSpPr>
            <a:spLocks noGrp="1" noRot="1" noChangeAspect="1"/>
          </p:cNvSpPr>
          <p:nvPr>
            <p:ph type="sldImg"/>
          </p:nvPr>
        </p:nvSpPr>
        <p:spPr>
          <a:xfrm>
            <a:off x="533400" y="763588"/>
            <a:ext cx="6704013" cy="3771900"/>
          </a:xfrm>
          <a:prstGeom prst="rect">
            <a:avLst/>
          </a:prstGeom>
        </p:spPr>
      </p:sp>
      <p:sp>
        <p:nvSpPr>
          <p:cNvPr id="219"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7B447D51-19A1-4077-9295-EF6D96A0FB5C}" type="slidenum">
              <a:rPr lang="en-US" sz="1400" b="0" strike="noStrike" spc="-1">
                <a:solidFill>
                  <a:srgbClr val="000000"/>
                </a:solidFill>
                <a:latin typeface="Times New Roman"/>
                <a:ea typeface="+mn-ea"/>
              </a:rPr>
              <a:t>10</a:t>
            </a:fld>
            <a:endParaRPr lang="en-US" sz="1400" b="0" strike="noStrike" spc="-1">
              <a:latin typeface="Arial"/>
            </a:endParaRPr>
          </a:p>
        </p:txBody>
      </p:sp>
      <p:sp>
        <p:nvSpPr>
          <p:cNvPr id="221" name="PlaceHolder 2"/>
          <p:cNvSpPr>
            <a:spLocks noGrp="1" noRot="1" noChangeAspect="1"/>
          </p:cNvSpPr>
          <p:nvPr>
            <p:ph type="sldImg"/>
          </p:nvPr>
        </p:nvSpPr>
        <p:spPr>
          <a:xfrm>
            <a:off x="533400" y="763588"/>
            <a:ext cx="6704013" cy="3771900"/>
          </a:xfrm>
          <a:prstGeom prst="rect">
            <a:avLst/>
          </a:prstGeom>
        </p:spPr>
      </p:sp>
      <p:sp>
        <p:nvSpPr>
          <p:cNvPr id="222"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39D6CBEA-273D-4A37-A2E3-17910AFDA950}" type="slidenum">
              <a:rPr lang="en-US" sz="1400" b="0" strike="noStrike" spc="-1">
                <a:solidFill>
                  <a:srgbClr val="000000"/>
                </a:solidFill>
                <a:latin typeface="Times New Roman"/>
                <a:ea typeface="+mn-ea"/>
              </a:rPr>
              <a:t>11</a:t>
            </a:fld>
            <a:endParaRPr lang="en-US" sz="1400" b="0" strike="noStrike" spc="-1">
              <a:latin typeface="Arial"/>
            </a:endParaRPr>
          </a:p>
        </p:txBody>
      </p:sp>
      <p:sp>
        <p:nvSpPr>
          <p:cNvPr id="230" name="PlaceHolder 2"/>
          <p:cNvSpPr>
            <a:spLocks noGrp="1" noRot="1" noChangeAspect="1"/>
          </p:cNvSpPr>
          <p:nvPr>
            <p:ph type="sldImg"/>
          </p:nvPr>
        </p:nvSpPr>
        <p:spPr>
          <a:xfrm>
            <a:off x="533400" y="763588"/>
            <a:ext cx="6704013" cy="3771900"/>
          </a:xfrm>
          <a:prstGeom prst="rect">
            <a:avLst/>
          </a:prstGeom>
        </p:spPr>
      </p:sp>
      <p:sp>
        <p:nvSpPr>
          <p:cNvPr id="231"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C24A29F3-AEEE-4282-A3C3-4CCB750920AB}" type="slidenum">
              <a:rPr lang="en-US" sz="1400" b="0" strike="noStrike" spc="-1">
                <a:solidFill>
                  <a:srgbClr val="000000"/>
                </a:solidFill>
                <a:latin typeface="Times New Roman"/>
                <a:ea typeface="+mn-ea"/>
              </a:rPr>
              <a:t>12</a:t>
            </a:fld>
            <a:endParaRPr lang="en-US" sz="1400" b="0" strike="noStrike" spc="-1">
              <a:latin typeface="Arial"/>
            </a:endParaRPr>
          </a:p>
        </p:txBody>
      </p:sp>
      <p:sp>
        <p:nvSpPr>
          <p:cNvPr id="233" name="PlaceHolder 2"/>
          <p:cNvSpPr>
            <a:spLocks noGrp="1" noRot="1" noChangeAspect="1"/>
          </p:cNvSpPr>
          <p:nvPr>
            <p:ph type="sldImg"/>
          </p:nvPr>
        </p:nvSpPr>
        <p:spPr>
          <a:xfrm>
            <a:off x="533400" y="763588"/>
            <a:ext cx="6704013" cy="3771900"/>
          </a:xfrm>
          <a:prstGeom prst="rect">
            <a:avLst/>
          </a:prstGeom>
        </p:spPr>
      </p:sp>
      <p:sp>
        <p:nvSpPr>
          <p:cNvPr id="234"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39D6CBEA-273D-4A37-A2E3-17910AFDA950}" type="slidenum">
              <a:rPr lang="en-US" sz="1400" b="0" strike="noStrike" spc="-1">
                <a:solidFill>
                  <a:srgbClr val="000000"/>
                </a:solidFill>
                <a:latin typeface="Times New Roman"/>
                <a:ea typeface="+mn-ea"/>
              </a:rPr>
              <a:t>13</a:t>
            </a:fld>
            <a:endParaRPr lang="en-US" sz="1400" b="0" strike="noStrike" spc="-1">
              <a:latin typeface="Arial"/>
            </a:endParaRPr>
          </a:p>
        </p:txBody>
      </p:sp>
      <p:sp>
        <p:nvSpPr>
          <p:cNvPr id="230" name="PlaceHolder 2"/>
          <p:cNvSpPr>
            <a:spLocks noGrp="1" noRot="1" noChangeAspect="1"/>
          </p:cNvSpPr>
          <p:nvPr>
            <p:ph type="sldImg"/>
          </p:nvPr>
        </p:nvSpPr>
        <p:spPr>
          <a:xfrm>
            <a:off x="533400" y="763588"/>
            <a:ext cx="6704013" cy="3771900"/>
          </a:xfrm>
          <a:prstGeom prst="rect">
            <a:avLst/>
          </a:prstGeom>
        </p:spPr>
      </p:sp>
      <p:sp>
        <p:nvSpPr>
          <p:cNvPr id="231"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extLst>
      <p:ext uri="{BB962C8B-B14F-4D97-AF65-F5344CB8AC3E}">
        <p14:creationId xmlns:p14="http://schemas.microsoft.com/office/powerpoint/2010/main" val="815783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AEC4CF4D-FE4D-44E6-9649-D153D93FA24B}" type="slidenum">
              <a:rPr lang="en-US" sz="1400" b="0" strike="noStrike" spc="-1">
                <a:solidFill>
                  <a:srgbClr val="000000"/>
                </a:solidFill>
                <a:latin typeface="Times New Roman"/>
                <a:ea typeface="+mn-ea"/>
              </a:rPr>
              <a:t>14</a:t>
            </a:fld>
            <a:endParaRPr lang="en-US" sz="1400" b="0" strike="noStrike" spc="-1">
              <a:latin typeface="Arial"/>
            </a:endParaRPr>
          </a:p>
        </p:txBody>
      </p:sp>
      <p:sp>
        <p:nvSpPr>
          <p:cNvPr id="236" name="PlaceHolder 2"/>
          <p:cNvSpPr>
            <a:spLocks noGrp="1" noRot="1" noChangeAspect="1"/>
          </p:cNvSpPr>
          <p:nvPr>
            <p:ph type="sldImg"/>
          </p:nvPr>
        </p:nvSpPr>
        <p:spPr>
          <a:xfrm>
            <a:off x="533400" y="763588"/>
            <a:ext cx="6704013" cy="3771900"/>
          </a:xfrm>
          <a:prstGeom prst="rect">
            <a:avLst/>
          </a:prstGeom>
        </p:spPr>
      </p:sp>
      <p:sp>
        <p:nvSpPr>
          <p:cNvPr id="237"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FFE47C8B-8BA6-4C2F-B34E-39DD9EC6E734}" type="slidenum">
              <a:rPr lang="en-US" sz="1400" b="0" strike="noStrike" spc="-1">
                <a:solidFill>
                  <a:srgbClr val="000000"/>
                </a:solidFill>
                <a:latin typeface="Times New Roman"/>
                <a:ea typeface="+mn-ea"/>
              </a:rPr>
              <a:t>15</a:t>
            </a:fld>
            <a:endParaRPr lang="en-US" sz="1400" b="0" strike="noStrike" spc="-1">
              <a:latin typeface="Arial"/>
            </a:endParaRPr>
          </a:p>
        </p:txBody>
      </p:sp>
      <p:sp>
        <p:nvSpPr>
          <p:cNvPr id="239" name="PlaceHolder 2"/>
          <p:cNvSpPr>
            <a:spLocks noGrp="1" noRot="1" noChangeAspect="1"/>
          </p:cNvSpPr>
          <p:nvPr>
            <p:ph type="sldImg"/>
          </p:nvPr>
        </p:nvSpPr>
        <p:spPr>
          <a:xfrm>
            <a:off x="533400" y="763588"/>
            <a:ext cx="6704013" cy="3771900"/>
          </a:xfrm>
          <a:prstGeom prst="rect">
            <a:avLst/>
          </a:prstGeom>
        </p:spPr>
      </p:sp>
      <p:sp>
        <p:nvSpPr>
          <p:cNvPr id="240"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2F582736-D9DE-4F00-B19D-EC3F15148AE3}" type="slidenum">
              <a:rPr lang="en-US" sz="1400" b="0" strike="noStrike" spc="-1">
                <a:solidFill>
                  <a:srgbClr val="000000"/>
                </a:solidFill>
                <a:latin typeface="Times New Roman"/>
                <a:ea typeface="+mn-ea"/>
              </a:rPr>
              <a:t>16</a:t>
            </a:fld>
            <a:endParaRPr lang="en-US" sz="1400" b="0" strike="noStrike" spc="-1">
              <a:latin typeface="Arial"/>
            </a:endParaRPr>
          </a:p>
        </p:txBody>
      </p:sp>
      <p:sp>
        <p:nvSpPr>
          <p:cNvPr id="242" name="PlaceHolder 2"/>
          <p:cNvSpPr>
            <a:spLocks noGrp="1" noRot="1" noChangeAspect="1"/>
          </p:cNvSpPr>
          <p:nvPr>
            <p:ph type="sldImg"/>
          </p:nvPr>
        </p:nvSpPr>
        <p:spPr>
          <a:xfrm>
            <a:off x="533400" y="763588"/>
            <a:ext cx="6704013" cy="3771900"/>
          </a:xfrm>
          <a:prstGeom prst="rect">
            <a:avLst/>
          </a:prstGeom>
        </p:spPr>
      </p:sp>
      <p:sp>
        <p:nvSpPr>
          <p:cNvPr id="243"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7BC18012-7399-4CF8-8745-E548A556D08C}" type="slidenum">
              <a:rPr lang="en-US" sz="1400" b="0" strike="noStrike" spc="-1">
                <a:solidFill>
                  <a:srgbClr val="000000"/>
                </a:solidFill>
                <a:latin typeface="Times New Roman"/>
                <a:ea typeface="+mn-ea"/>
              </a:rPr>
              <a:t>17</a:t>
            </a:fld>
            <a:endParaRPr lang="en-US" sz="1400" b="0" strike="noStrike" spc="-1">
              <a:latin typeface="Arial"/>
            </a:endParaRPr>
          </a:p>
        </p:txBody>
      </p:sp>
      <p:sp>
        <p:nvSpPr>
          <p:cNvPr id="245" name="PlaceHolder 2"/>
          <p:cNvSpPr>
            <a:spLocks noGrp="1" noRot="1" noChangeAspect="1"/>
          </p:cNvSpPr>
          <p:nvPr>
            <p:ph type="sldImg"/>
          </p:nvPr>
        </p:nvSpPr>
        <p:spPr>
          <a:xfrm>
            <a:off x="533400" y="763588"/>
            <a:ext cx="6704013" cy="3771900"/>
          </a:xfrm>
          <a:prstGeom prst="rect">
            <a:avLst/>
          </a:prstGeom>
        </p:spPr>
      </p:sp>
      <p:sp>
        <p:nvSpPr>
          <p:cNvPr id="246"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99A9E44F-0B4E-4928-8E7A-D430B92A3C09}" type="slidenum">
              <a:rPr lang="en-US" sz="1400" b="0" strike="noStrike" spc="-1">
                <a:solidFill>
                  <a:srgbClr val="000000"/>
                </a:solidFill>
                <a:latin typeface="Times New Roman"/>
                <a:ea typeface="+mn-ea"/>
              </a:rPr>
              <a:t>18</a:t>
            </a:fld>
            <a:endParaRPr lang="en-US" sz="1400" b="0" strike="noStrike" spc="-1">
              <a:latin typeface="Arial"/>
            </a:endParaRPr>
          </a:p>
        </p:txBody>
      </p:sp>
      <p:sp>
        <p:nvSpPr>
          <p:cNvPr id="248" name="PlaceHolder 2"/>
          <p:cNvSpPr>
            <a:spLocks noGrp="1" noRot="1" noChangeAspect="1"/>
          </p:cNvSpPr>
          <p:nvPr>
            <p:ph type="sldImg"/>
          </p:nvPr>
        </p:nvSpPr>
        <p:spPr>
          <a:xfrm>
            <a:off x="533400" y="763588"/>
            <a:ext cx="6704013" cy="3771900"/>
          </a:xfrm>
          <a:prstGeom prst="rect">
            <a:avLst/>
          </a:prstGeom>
        </p:spPr>
      </p:sp>
      <p:sp>
        <p:nvSpPr>
          <p:cNvPr id="249"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2E321A27-BDB3-4586-8B24-7E356B016A5C}" type="slidenum">
              <a:rPr lang="en-US" sz="1400" b="0" strike="noStrike" spc="-1">
                <a:solidFill>
                  <a:srgbClr val="000000"/>
                </a:solidFill>
                <a:latin typeface="Times New Roman"/>
                <a:ea typeface="+mn-ea"/>
              </a:rPr>
              <a:t>19</a:t>
            </a:fld>
            <a:endParaRPr lang="en-US" sz="1400" b="0" strike="noStrike" spc="-1">
              <a:latin typeface="Arial"/>
            </a:endParaRPr>
          </a:p>
        </p:txBody>
      </p:sp>
      <p:sp>
        <p:nvSpPr>
          <p:cNvPr id="251" name="PlaceHolder 2"/>
          <p:cNvSpPr>
            <a:spLocks noGrp="1" noRot="1" noChangeAspect="1"/>
          </p:cNvSpPr>
          <p:nvPr>
            <p:ph type="sldImg"/>
          </p:nvPr>
        </p:nvSpPr>
        <p:spPr>
          <a:xfrm>
            <a:off x="533400" y="763588"/>
            <a:ext cx="6704013" cy="3771900"/>
          </a:xfrm>
          <a:prstGeom prst="rect">
            <a:avLst/>
          </a:prstGeom>
        </p:spPr>
      </p:sp>
      <p:sp>
        <p:nvSpPr>
          <p:cNvPr id="252"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6814D963-014A-47B0-A812-54B162623BD4}" type="slidenum">
              <a:rPr lang="en-US" sz="1400" b="0" strike="noStrike" spc="-1">
                <a:solidFill>
                  <a:srgbClr val="000000"/>
                </a:solidFill>
                <a:latin typeface="Times New Roman"/>
                <a:ea typeface="+mn-ea"/>
              </a:rPr>
              <a:t>20</a:t>
            </a:fld>
            <a:endParaRPr lang="en-US" sz="1400" b="0" strike="noStrike" spc="-1">
              <a:latin typeface="Arial"/>
            </a:endParaRPr>
          </a:p>
        </p:txBody>
      </p:sp>
      <p:sp>
        <p:nvSpPr>
          <p:cNvPr id="257" name="PlaceHolder 2"/>
          <p:cNvSpPr>
            <a:spLocks noGrp="1" noRot="1" noChangeAspect="1"/>
          </p:cNvSpPr>
          <p:nvPr>
            <p:ph type="sldImg"/>
          </p:nvPr>
        </p:nvSpPr>
        <p:spPr>
          <a:xfrm>
            <a:off x="533400" y="763588"/>
            <a:ext cx="6704013" cy="3771900"/>
          </a:xfrm>
          <a:prstGeom prst="rect">
            <a:avLst/>
          </a:prstGeom>
        </p:spPr>
      </p:sp>
      <p:sp>
        <p:nvSpPr>
          <p:cNvPr id="258"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CustomShape 1"/>
          <p:cNvSpPr/>
          <p:nvPr/>
        </p:nvSpPr>
        <p:spPr>
          <a:xfrm>
            <a:off x="4398840" y="9555120"/>
            <a:ext cx="3370320" cy="50004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3000"/>
              </a:lnSpc>
            </a:pPr>
            <a:fld id="{78797308-609C-4429-8937-C30D14F4D2A0}" type="slidenum">
              <a:rPr lang="en-US" sz="1400" b="0" strike="noStrike" spc="-1">
                <a:solidFill>
                  <a:srgbClr val="000000"/>
                </a:solidFill>
                <a:latin typeface="Times New Roman"/>
                <a:ea typeface="+mn-ea"/>
              </a:rPr>
              <a:t>21</a:t>
            </a:fld>
            <a:endParaRPr lang="en-US" sz="1400" b="0" strike="noStrike" spc="-1">
              <a:latin typeface="Arial"/>
            </a:endParaRPr>
          </a:p>
        </p:txBody>
      </p:sp>
      <p:sp>
        <p:nvSpPr>
          <p:cNvPr id="254" name="PlaceHolder 2"/>
          <p:cNvSpPr>
            <a:spLocks noGrp="1" noRot="1" noChangeAspect="1"/>
          </p:cNvSpPr>
          <p:nvPr>
            <p:ph type="sldImg"/>
          </p:nvPr>
        </p:nvSpPr>
        <p:spPr>
          <a:xfrm>
            <a:off x="533400" y="763588"/>
            <a:ext cx="6704013" cy="3771900"/>
          </a:xfrm>
          <a:prstGeom prst="rect">
            <a:avLst/>
          </a:prstGeom>
        </p:spPr>
      </p:sp>
      <p:sp>
        <p:nvSpPr>
          <p:cNvPr id="255" name="PlaceHolder 3"/>
          <p:cNvSpPr>
            <a:spLocks noGrp="1"/>
          </p:cNvSpPr>
          <p:nvPr>
            <p:ph type="body"/>
          </p:nvPr>
        </p:nvSpPr>
        <p:spPr>
          <a:xfrm>
            <a:off x="777960" y="4776840"/>
            <a:ext cx="6216840" cy="4524480"/>
          </a:xfrm>
          <a:prstGeom prst="rect">
            <a:avLst/>
          </a:prstGeom>
        </p:spPr>
        <p:txBody>
          <a:bodyPr lIns="0" tIns="0" rIns="0" bIns="0" anchor="ctr"/>
          <a:lstStyle/>
          <a:p>
            <a:endParaRPr lang="en-US" sz="20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6703-D0F7-E745-A687-AC990D0C464C}"/>
              </a:ext>
            </a:extLst>
          </p:cNvPr>
          <p:cNvSpPr>
            <a:spLocks noGrp="1"/>
          </p:cNvSpPr>
          <p:nvPr>
            <p:ph type="ctrTitle" hasCustomPrompt="1"/>
          </p:nvPr>
        </p:nvSpPr>
        <p:spPr>
          <a:xfrm>
            <a:off x="1524000" y="734056"/>
            <a:ext cx="9144000" cy="2387600"/>
          </a:xfrm>
        </p:spPr>
        <p:txBody>
          <a:bodyPr anchor="b">
            <a:normAutofit/>
          </a:bodyPr>
          <a:lstStyle>
            <a:lvl1pPr algn="ctr">
              <a:defRPr sz="3600" cap="none">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61E6FFF2-58E4-794E-892D-6FF45321C2C0}"/>
              </a:ext>
            </a:extLst>
          </p:cNvPr>
          <p:cNvSpPr>
            <a:spLocks noGrp="1"/>
          </p:cNvSpPr>
          <p:nvPr>
            <p:ph type="subTitle" idx="1"/>
          </p:nvPr>
        </p:nvSpPr>
        <p:spPr>
          <a:xfrm>
            <a:off x="1524000" y="33139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1BA7C03E-EF71-2C40-9E45-BF08314EE5F1}"/>
              </a:ext>
            </a:extLst>
          </p:cNvPr>
          <p:cNvSpPr>
            <a:spLocks noGrp="1"/>
          </p:cNvSpPr>
          <p:nvPr>
            <p:ph type="sldNum" sz="quarter" idx="12"/>
          </p:nvPr>
        </p:nvSpPr>
        <p:spPr>
          <a:xfrm>
            <a:off x="838200" y="5991633"/>
            <a:ext cx="2587831" cy="365125"/>
          </a:xfrm>
        </p:spPr>
        <p:txBody>
          <a:bodyPr/>
          <a:lstStyle/>
          <a:p>
            <a:fld id="{B4E9AFF7-6653-6A4D-A979-64D2F5BECA26}" type="slidenum">
              <a:rPr lang="en-US" smtClean="0"/>
              <a:t>‹#›</a:t>
            </a:fld>
            <a:endParaRPr lang="en-US"/>
          </a:p>
        </p:txBody>
      </p:sp>
      <p:pic>
        <p:nvPicPr>
          <p:cNvPr id="13" name="Picture 12">
            <a:extLst>
              <a:ext uri="{FF2B5EF4-FFF2-40B4-BE49-F238E27FC236}">
                <a16:creationId xmlns:a16="http://schemas.microsoft.com/office/drawing/2014/main" id="{EB7CA613-45CE-304E-89CD-A7CD3E387F7A}"/>
              </a:ext>
            </a:extLst>
          </p:cNvPr>
          <p:cNvPicPr>
            <a:picLocks noChangeAspect="1"/>
          </p:cNvPicPr>
          <p:nvPr userDrawn="1"/>
        </p:nvPicPr>
        <p:blipFill>
          <a:blip r:embed="rId2"/>
          <a:srcRect/>
          <a:stretch/>
        </p:blipFill>
        <p:spPr>
          <a:xfrm>
            <a:off x="4674805" y="4461832"/>
            <a:ext cx="2842389" cy="1894926"/>
          </a:xfrm>
          <a:prstGeom prst="rect">
            <a:avLst/>
          </a:prstGeom>
        </p:spPr>
      </p:pic>
    </p:spTree>
    <p:extLst>
      <p:ext uri="{BB962C8B-B14F-4D97-AF65-F5344CB8AC3E}">
        <p14:creationId xmlns:p14="http://schemas.microsoft.com/office/powerpoint/2010/main" val="29574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ED37-4F17-3341-80DD-6302FD9C0346}"/>
              </a:ext>
            </a:extLst>
          </p:cNvPr>
          <p:cNvSpPr>
            <a:spLocks noGrp="1"/>
          </p:cNvSpPr>
          <p:nvPr>
            <p:ph type="title" hasCustomPrompt="1"/>
          </p:nvPr>
        </p:nvSpPr>
        <p:spPr/>
        <p:txBody>
          <a:bodyPr>
            <a:normAutofit/>
          </a:bodyPr>
          <a:lstStyle>
            <a:lvl1pPr>
              <a:defRPr sz="3600" cap="none">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5456E732-1F86-874D-B35F-F0D15E08E919}"/>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C13372-CC48-6246-83C0-B536F3DCA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5CF31-8755-3E42-B89A-9D67D96D7102}"/>
              </a:ext>
            </a:extLst>
          </p:cNvPr>
          <p:cNvSpPr>
            <a:spLocks noGrp="1"/>
          </p:cNvSpPr>
          <p:nvPr>
            <p:ph type="sldNum" sz="quarter" idx="12"/>
          </p:nvPr>
        </p:nvSpPr>
        <p:spPr>
          <a:xfrm>
            <a:off x="838200" y="6004323"/>
            <a:ext cx="2635332"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0676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C8D6-6BCB-BD4B-B6E0-92A778004EF5}"/>
              </a:ext>
            </a:extLst>
          </p:cNvPr>
          <p:cNvSpPr>
            <a:spLocks noGrp="1"/>
          </p:cNvSpPr>
          <p:nvPr>
            <p:ph type="title" hasCustomPrompt="1"/>
          </p:nvPr>
        </p:nvSpPr>
        <p:spPr/>
        <p:txBody>
          <a:bodyPr>
            <a:normAutofit/>
          </a:bodyPr>
          <a:lstStyle>
            <a:lvl1pPr>
              <a:defRPr sz="3600" cap="none">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BC4099C-8353-F44E-8406-26AC07974CEE}"/>
              </a:ext>
            </a:extLst>
          </p:cNvPr>
          <p:cNvSpPr>
            <a:spLocks noGrp="1"/>
          </p:cNvSpPr>
          <p:nvPr>
            <p:ph sz="half" idx="1"/>
          </p:nvPr>
        </p:nvSpPr>
        <p:spPr>
          <a:xfrm>
            <a:off x="838200" y="1825625"/>
            <a:ext cx="5181600" cy="404376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8F8CC49-08EF-8048-B6B2-BC247008F046}"/>
              </a:ext>
            </a:extLst>
          </p:cNvPr>
          <p:cNvSpPr>
            <a:spLocks noGrp="1"/>
          </p:cNvSpPr>
          <p:nvPr>
            <p:ph sz="half" idx="2"/>
          </p:nvPr>
        </p:nvSpPr>
        <p:spPr>
          <a:xfrm>
            <a:off x="6172200" y="1825625"/>
            <a:ext cx="5181600" cy="404376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2CCBEF1-4544-884E-86EB-537413909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7F880-2CCE-9044-8CE8-A7CF47CE5236}"/>
              </a:ext>
            </a:extLst>
          </p:cNvPr>
          <p:cNvSpPr>
            <a:spLocks noGrp="1"/>
          </p:cNvSpPr>
          <p:nvPr>
            <p:ph type="sldNum" sz="quarter" idx="12"/>
          </p:nvPr>
        </p:nvSpPr>
        <p:spPr>
          <a:xfrm>
            <a:off x="838200" y="6004323"/>
            <a:ext cx="268877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524532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9A27-C210-CF48-97F8-943B5EBAC6EC}"/>
              </a:ext>
            </a:extLst>
          </p:cNvPr>
          <p:cNvSpPr>
            <a:spLocks noGrp="1"/>
          </p:cNvSpPr>
          <p:nvPr>
            <p:ph type="title" hasCustomPrompt="1"/>
          </p:nvPr>
        </p:nvSpPr>
        <p:spPr/>
        <p:txBody>
          <a:bodyPr>
            <a:normAutofit/>
          </a:bodyPr>
          <a:lstStyle>
            <a:lvl1pPr>
              <a:defRPr sz="3600" cap="none">
                <a:latin typeface="+mj-lt"/>
              </a:defRPr>
            </a:lvl1pPr>
          </a:lstStyle>
          <a:p>
            <a:r>
              <a:rPr lang="en-US" dirty="0"/>
              <a:t>Click to edit master title style</a:t>
            </a:r>
          </a:p>
        </p:txBody>
      </p:sp>
      <p:sp>
        <p:nvSpPr>
          <p:cNvPr id="4" name="Footer Placeholder 3">
            <a:extLst>
              <a:ext uri="{FF2B5EF4-FFF2-40B4-BE49-F238E27FC236}">
                <a16:creationId xmlns:a16="http://schemas.microsoft.com/office/drawing/2014/main" id="{385EC86A-0D15-764F-AA81-41016E208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33FAA-B5EA-C54D-A18B-17F16CA5F110}"/>
              </a:ext>
            </a:extLst>
          </p:cNvPr>
          <p:cNvSpPr>
            <a:spLocks noGrp="1"/>
          </p:cNvSpPr>
          <p:nvPr>
            <p:ph type="sldNum" sz="quarter" idx="12"/>
          </p:nvPr>
        </p:nvSpPr>
        <p:spPr>
          <a:xfrm>
            <a:off x="838200" y="6005974"/>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71224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1396917"/>
            <a:ext cx="10515600" cy="1186267"/>
          </a:xfrm>
        </p:spPr>
        <p:txBody>
          <a:bodyPr anchor="t">
            <a:normAutofit/>
          </a:bodyPr>
          <a:lstStyle>
            <a:lvl1pPr algn="ctr">
              <a:defRPr sz="3600" cap="none">
                <a:solidFill>
                  <a:schemeClr val="bg1"/>
                </a:solidFill>
                <a:latin typeface="+mj-lt"/>
              </a:defRPr>
            </a:lvl1pPr>
          </a:lstStyle>
          <a:p>
            <a:r>
              <a:rPr lang="en-US" dirty="0"/>
              <a:t>Thank You for Your Time</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hasCustomPrompt="1"/>
          </p:nvPr>
        </p:nvSpPr>
        <p:spPr>
          <a:xfrm>
            <a:off x="831850" y="4867949"/>
            <a:ext cx="5493794" cy="1500187"/>
          </a:xfrm>
        </p:spPr>
        <p:txBody>
          <a:bodyPr anchor="b"/>
          <a:lstStyle>
            <a:lvl1pPr marL="0" indent="0" algn="l">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a:p>
            <a:pPr lvl="0"/>
            <a:r>
              <a:rPr lang="en-US" dirty="0"/>
              <a:t>Title:</a:t>
            </a:r>
          </a:p>
          <a:p>
            <a:pPr lvl="0"/>
            <a:r>
              <a:rPr lang="en-US" dirty="0"/>
              <a:t>Email:</a:t>
            </a:r>
          </a:p>
        </p:txBody>
      </p:sp>
      <p:pic>
        <p:nvPicPr>
          <p:cNvPr id="14" name="Picture 13">
            <a:extLst>
              <a:ext uri="{FF2B5EF4-FFF2-40B4-BE49-F238E27FC236}">
                <a16:creationId xmlns:a16="http://schemas.microsoft.com/office/drawing/2014/main" id="{AF9AC280-2351-6C45-82F9-60D04CD0151B}"/>
              </a:ext>
            </a:extLst>
          </p:cNvPr>
          <p:cNvPicPr>
            <a:picLocks noChangeAspect="1"/>
          </p:cNvPicPr>
          <p:nvPr userDrawn="1"/>
        </p:nvPicPr>
        <p:blipFill>
          <a:blip r:embed="rId3"/>
          <a:srcRect/>
          <a:stretch/>
        </p:blipFill>
        <p:spPr>
          <a:xfrm>
            <a:off x="6756810" y="5337313"/>
            <a:ext cx="4916491" cy="1015362"/>
          </a:xfrm>
          <a:prstGeom prst="rect">
            <a:avLst/>
          </a:prstGeom>
        </p:spPr>
      </p:pic>
    </p:spTree>
    <p:extLst>
      <p:ext uri="{BB962C8B-B14F-4D97-AF65-F5344CB8AC3E}">
        <p14:creationId xmlns:p14="http://schemas.microsoft.com/office/powerpoint/2010/main" val="3717776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2835866"/>
            <a:ext cx="10515600" cy="1186267"/>
          </a:xfrm>
        </p:spPr>
        <p:txBody>
          <a:bodyPr anchor="t">
            <a:normAutofit/>
          </a:bodyPr>
          <a:lstStyle>
            <a:lvl1pPr algn="ctr">
              <a:defRPr sz="3600" cap="none">
                <a:solidFill>
                  <a:schemeClr val="bg1"/>
                </a:solidFill>
                <a:latin typeface="+mj-lt"/>
              </a:defRPr>
            </a:lvl1pPr>
          </a:lstStyle>
          <a:p>
            <a:r>
              <a:rPr lang="en-US" dirty="0"/>
              <a:t>Section Break</a:t>
            </a:r>
          </a:p>
        </p:txBody>
      </p:sp>
    </p:spTree>
    <p:extLst>
      <p:ext uri="{BB962C8B-B14F-4D97-AF65-F5344CB8AC3E}">
        <p14:creationId xmlns:p14="http://schemas.microsoft.com/office/powerpoint/2010/main" val="261356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864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BC199-4655-F541-83EE-721E1D086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5445D78-BC86-6C4A-8173-07BC8BF4F06C}"/>
              </a:ext>
            </a:extLst>
          </p:cNvPr>
          <p:cNvSpPr>
            <a:spLocks noGrp="1"/>
          </p:cNvSpPr>
          <p:nvPr>
            <p:ph type="body" idx="1"/>
          </p:nvPr>
        </p:nvSpPr>
        <p:spPr>
          <a:xfrm>
            <a:off x="838200" y="1825625"/>
            <a:ext cx="10515600" cy="3992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989E362-4DC4-BA42-AD46-DCFCBF72CE19}"/>
              </a:ext>
            </a:extLst>
          </p:cNvPr>
          <p:cNvSpPr>
            <a:spLocks noGrp="1"/>
          </p:cNvSpPr>
          <p:nvPr>
            <p:ph type="ftr" sz="quarter" idx="3"/>
          </p:nvPr>
        </p:nvSpPr>
        <p:spPr>
          <a:xfrm>
            <a:off x="4038600" y="600432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5AB465-CD1B-7A41-8A74-7F4A07B23239}"/>
              </a:ext>
            </a:extLst>
          </p:cNvPr>
          <p:cNvSpPr>
            <a:spLocks noGrp="1"/>
          </p:cNvSpPr>
          <p:nvPr>
            <p:ph type="sldNum" sz="quarter" idx="4"/>
          </p:nvPr>
        </p:nvSpPr>
        <p:spPr>
          <a:xfrm>
            <a:off x="838200" y="600432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9AFF7-6653-6A4D-A979-64D2F5BECA26}" type="slidenum">
              <a:rPr lang="en-US" smtClean="0"/>
              <a:pPr/>
              <a:t>‹#›</a:t>
            </a:fld>
            <a:endParaRPr lang="en-US" dirty="0"/>
          </a:p>
        </p:txBody>
      </p:sp>
    </p:spTree>
    <p:extLst>
      <p:ext uri="{BB962C8B-B14F-4D97-AF65-F5344CB8AC3E}">
        <p14:creationId xmlns:p14="http://schemas.microsoft.com/office/powerpoint/2010/main" val="2207130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8" r:id="rId5"/>
    <p:sldLayoutId id="2147483659" r:id="rId6"/>
    <p:sldLayoutId id="2147483660" r:id="rId7"/>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hyperlink" Target="https://github.com/ARTS-Laboratory/dataset-free-vibration-of-cantilever-beam" TargetMode="Externa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hyperlink" Target="https://docs.python.org/3.8/" TargetMode="External"/><Relationship Id="rId4" Type="http://schemas.openxmlformats.org/officeDocument/2006/relationships/hyperlink" Target="https://www.youtube.com/watch?v=N4mEzFDjqtA"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hyperlink" Target="https://numpy.org/doc/1.17/reference/index.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hyperlink" Target="https://matplotlib.org/3.1.1/api/_as_gen/matplotlib.pyplot.html#module-matplotlib.pyplot" TargetMode="External"/><Relationship Id="rId4" Type="http://schemas.openxmlformats.org/officeDocument/2006/relationships/hyperlink" Target="https://matplotlib.org/3.1.1/api/index.ht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docs.scipy.org/doc/scipy/reference/" TargetMode="External"/><Relationship Id="rId7"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hyperlink" Target="https://scikit-learn.org/stable/user_guide.html"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F61-B891-3944-9E22-503B0C38A722}"/>
              </a:ext>
            </a:extLst>
          </p:cNvPr>
          <p:cNvSpPr>
            <a:spLocks noGrp="1"/>
          </p:cNvSpPr>
          <p:nvPr>
            <p:ph type="ctrTitle"/>
          </p:nvPr>
        </p:nvSpPr>
        <p:spPr>
          <a:xfrm>
            <a:off x="1031192" y="734056"/>
            <a:ext cx="10129615" cy="2387600"/>
          </a:xfrm>
        </p:spPr>
        <p:txBody>
          <a:bodyPr/>
          <a:lstStyle/>
          <a:p>
            <a:r>
              <a:rPr lang="en-US" dirty="0"/>
              <a:t>Engineering Problem Solving in Python</a:t>
            </a:r>
          </a:p>
        </p:txBody>
      </p:sp>
      <p:sp>
        <p:nvSpPr>
          <p:cNvPr id="3" name="Subtitle 2">
            <a:extLst>
              <a:ext uri="{FF2B5EF4-FFF2-40B4-BE49-F238E27FC236}">
                <a16:creationId xmlns:a16="http://schemas.microsoft.com/office/drawing/2014/main" id="{8B96A461-863C-424F-BAE7-45F2ACA74C3E}"/>
              </a:ext>
            </a:extLst>
          </p:cNvPr>
          <p:cNvSpPr>
            <a:spLocks noGrp="1"/>
          </p:cNvSpPr>
          <p:nvPr>
            <p:ph type="subTitle" idx="1"/>
          </p:nvPr>
        </p:nvSpPr>
        <p:spPr>
          <a:xfrm>
            <a:off x="1524000" y="3313939"/>
            <a:ext cx="9144000" cy="950412"/>
          </a:xfrm>
        </p:spPr>
        <p:txBody>
          <a:bodyPr/>
          <a:lstStyle/>
          <a:p>
            <a:pPr>
              <a:spcBef>
                <a:spcPts val="1001"/>
              </a:spcBef>
            </a:pPr>
            <a:r>
              <a:rPr lang="en-US" spc="-1" dirty="0">
                <a:solidFill>
                  <a:srgbClr val="000000"/>
                </a:solidFill>
                <a:ea typeface="DejaVu Sans"/>
              </a:rPr>
              <a:t>Austin R.J. Downey</a:t>
            </a:r>
            <a:endParaRPr lang="en-US" spc="-1" dirty="0"/>
          </a:p>
        </p:txBody>
      </p:sp>
      <p:sp>
        <p:nvSpPr>
          <p:cNvPr id="4" name="Slide Number Placeholder 3">
            <a:extLst>
              <a:ext uri="{FF2B5EF4-FFF2-40B4-BE49-F238E27FC236}">
                <a16:creationId xmlns:a16="http://schemas.microsoft.com/office/drawing/2014/main" id="{E54FB2FF-1748-1752-C51A-ED679CCD3BDA}"/>
              </a:ext>
            </a:extLst>
          </p:cNvPr>
          <p:cNvSpPr>
            <a:spLocks noGrp="1"/>
          </p:cNvSpPr>
          <p:nvPr>
            <p:ph type="sldNum" sz="quarter" idx="12"/>
          </p:nvPr>
        </p:nvSpPr>
        <p:spPr/>
        <p:txBody>
          <a:bodyPr/>
          <a:lstStyle/>
          <a:p>
            <a:fld id="{B4E9AFF7-6653-6A4D-A979-64D2F5BECA26}" type="slidenum">
              <a:rPr lang="en-US" smtClean="0"/>
              <a:t>1</a:t>
            </a:fld>
            <a:endParaRPr lang="en-US"/>
          </a:p>
        </p:txBody>
      </p:sp>
    </p:spTree>
    <p:extLst>
      <p:ext uri="{BB962C8B-B14F-4D97-AF65-F5344CB8AC3E}">
        <p14:creationId xmlns:p14="http://schemas.microsoft.com/office/powerpoint/2010/main" val="358700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3EF145-AE9C-A971-60D7-C100CF0D02B3}"/>
              </a:ext>
            </a:extLst>
          </p:cNvPr>
          <p:cNvSpPr/>
          <p:nvPr/>
        </p:nvSpPr>
        <p:spPr>
          <a:xfrm>
            <a:off x="987850" y="3556210"/>
            <a:ext cx="4559320" cy="22987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ustomShape 1"/>
          <p:cNvSpPr/>
          <p:nvPr/>
        </p:nvSpPr>
        <p:spPr>
          <a:xfrm>
            <a:off x="419080" y="475598"/>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dirty="0">
                <a:solidFill>
                  <a:srgbClr val="000000"/>
                </a:solidFill>
                <a:latin typeface="Arial"/>
                <a:ea typeface="DejaVu Sans"/>
              </a:rPr>
              <a:t>Languages for Scientific </a:t>
            </a:r>
            <a:r>
              <a:rPr lang="en-US" sz="3000" spc="-1" dirty="0">
                <a:solidFill>
                  <a:srgbClr val="000000"/>
                </a:solidFill>
                <a:latin typeface="Arial"/>
                <a:ea typeface="DejaVu Sans"/>
              </a:rPr>
              <a:t>C</a:t>
            </a:r>
            <a:r>
              <a:rPr lang="en-US" sz="3000" b="0" strike="noStrike" spc="-1" dirty="0">
                <a:solidFill>
                  <a:srgbClr val="000000"/>
                </a:solidFill>
                <a:latin typeface="Arial"/>
                <a:ea typeface="DejaVu Sans"/>
              </a:rPr>
              <a:t>omputing</a:t>
            </a:r>
            <a:endParaRPr lang="en-US" sz="3000" b="0" strike="noStrike" spc="-1" dirty="0">
              <a:latin typeface="Arial"/>
            </a:endParaRPr>
          </a:p>
        </p:txBody>
      </p:sp>
      <p:pic>
        <p:nvPicPr>
          <p:cNvPr id="152" name="Picture 3"/>
          <p:cNvPicPr/>
          <p:nvPr/>
        </p:nvPicPr>
        <p:blipFill>
          <a:blip r:embed="rId3"/>
          <a:srcRect l="3496" t="20895" b="27041"/>
          <a:stretch/>
        </p:blipFill>
        <p:spPr>
          <a:xfrm>
            <a:off x="708133" y="1270179"/>
            <a:ext cx="5352300" cy="1657111"/>
          </a:xfrm>
          <a:prstGeom prst="rect">
            <a:avLst/>
          </a:prstGeom>
          <a:ln>
            <a:noFill/>
          </a:ln>
        </p:spPr>
      </p:pic>
      <p:pic>
        <p:nvPicPr>
          <p:cNvPr id="1026" name="Picture 2">
            <a:extLst>
              <a:ext uri="{FF2B5EF4-FFF2-40B4-BE49-F238E27FC236}">
                <a16:creationId xmlns:a16="http://schemas.microsoft.com/office/drawing/2014/main" id="{3ECBBDF4-F833-1FAB-C6F3-E91B32FB20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5631" y="3720431"/>
            <a:ext cx="952500" cy="952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38C74BC-C2C2-8FC0-C22D-AD0CA3162677}"/>
              </a:ext>
            </a:extLst>
          </p:cNvPr>
          <p:cNvSpPr txBox="1"/>
          <p:nvPr/>
        </p:nvSpPr>
        <p:spPr>
          <a:xfrm>
            <a:off x="1334392" y="3862042"/>
            <a:ext cx="2362200" cy="584775"/>
          </a:xfrm>
          <a:prstGeom prst="rect">
            <a:avLst/>
          </a:prstGeom>
          <a:noFill/>
        </p:spPr>
        <p:txBody>
          <a:bodyPr wrap="square">
            <a:spAutoFit/>
          </a:bodyPr>
          <a:lstStyle/>
          <a:p>
            <a:pPr algn="l"/>
            <a:r>
              <a:rPr lang="en-US" sz="3200" b="0" i="0" dirty="0">
                <a:solidFill>
                  <a:srgbClr val="000000"/>
                </a:solidFill>
                <a:effectLst/>
                <a:latin typeface="Linux Libertine"/>
              </a:rPr>
              <a:t>GNU Octave</a:t>
            </a:r>
          </a:p>
        </p:txBody>
      </p:sp>
      <p:pic>
        <p:nvPicPr>
          <p:cNvPr id="1028" name="Picture 4" descr="9">
            <a:extLst>
              <a:ext uri="{FF2B5EF4-FFF2-40B4-BE49-F238E27FC236}">
                <a16:creationId xmlns:a16="http://schemas.microsoft.com/office/drawing/2014/main" id="{34CFA17B-9BE3-E213-DBED-30681736FF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1669" y="4944536"/>
            <a:ext cx="1480424" cy="7402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037B20-A7A2-F00C-EA3D-478A64FD8CA9}"/>
              </a:ext>
            </a:extLst>
          </p:cNvPr>
          <p:cNvSpPr txBox="1"/>
          <p:nvPr/>
        </p:nvSpPr>
        <p:spPr>
          <a:xfrm>
            <a:off x="1787086" y="4981585"/>
            <a:ext cx="1480424" cy="584775"/>
          </a:xfrm>
          <a:prstGeom prst="rect">
            <a:avLst/>
          </a:prstGeom>
          <a:noFill/>
        </p:spPr>
        <p:txBody>
          <a:bodyPr wrap="square">
            <a:spAutoFit/>
          </a:bodyPr>
          <a:lstStyle/>
          <a:p>
            <a:pPr algn="l"/>
            <a:r>
              <a:rPr lang="en-US" sz="3200" b="0" i="0" dirty="0" err="1">
                <a:solidFill>
                  <a:srgbClr val="000000"/>
                </a:solidFill>
                <a:effectLst/>
                <a:latin typeface="Linux Libertine"/>
              </a:rPr>
              <a:t>Scilab</a:t>
            </a:r>
            <a:endParaRPr lang="en-US" sz="3200" b="0" i="0" dirty="0">
              <a:solidFill>
                <a:srgbClr val="000000"/>
              </a:solidFill>
              <a:effectLst/>
              <a:latin typeface="Linux Libertine"/>
            </a:endParaRPr>
          </a:p>
        </p:txBody>
      </p:sp>
      <p:sp>
        <p:nvSpPr>
          <p:cNvPr id="7" name="TextBox 6">
            <a:extLst>
              <a:ext uri="{FF2B5EF4-FFF2-40B4-BE49-F238E27FC236}">
                <a16:creationId xmlns:a16="http://schemas.microsoft.com/office/drawing/2014/main" id="{6667B1BD-4BBC-14B7-E927-6CD944390301}"/>
              </a:ext>
            </a:extLst>
          </p:cNvPr>
          <p:cNvSpPr txBox="1"/>
          <p:nvPr/>
        </p:nvSpPr>
        <p:spPr>
          <a:xfrm>
            <a:off x="1723232" y="3037709"/>
            <a:ext cx="3696820" cy="461665"/>
          </a:xfrm>
          <a:prstGeom prst="rect">
            <a:avLst/>
          </a:prstGeom>
          <a:noFill/>
        </p:spPr>
        <p:txBody>
          <a:bodyPr wrap="square">
            <a:spAutoFit/>
          </a:bodyPr>
          <a:lstStyle/>
          <a:p>
            <a:r>
              <a:rPr lang="en-US" sz="2400" b="1" dirty="0"/>
              <a:t>open source “copies”</a:t>
            </a:r>
          </a:p>
        </p:txBody>
      </p:sp>
      <p:pic>
        <p:nvPicPr>
          <p:cNvPr id="1030" name="Picture 6">
            <a:extLst>
              <a:ext uri="{FF2B5EF4-FFF2-40B4-BE49-F238E27FC236}">
                <a16:creationId xmlns:a16="http://schemas.microsoft.com/office/drawing/2014/main" id="{0EA2DCDB-6369-BEDD-C741-A8A103E6DA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3142" y="1752470"/>
            <a:ext cx="1152525" cy="12001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BC0047A-E527-6427-BBF1-C6A16B080462}"/>
              </a:ext>
            </a:extLst>
          </p:cNvPr>
          <p:cNvSpPr txBox="1"/>
          <p:nvPr/>
        </p:nvSpPr>
        <p:spPr>
          <a:xfrm>
            <a:off x="8105667" y="1736049"/>
            <a:ext cx="3378200" cy="1077218"/>
          </a:xfrm>
          <a:prstGeom prst="rect">
            <a:avLst/>
          </a:prstGeom>
          <a:noFill/>
        </p:spPr>
        <p:txBody>
          <a:bodyPr wrap="square">
            <a:spAutoFit/>
          </a:bodyPr>
          <a:lstStyle/>
          <a:p>
            <a:pPr algn="ctr"/>
            <a:r>
              <a:rPr lang="en-US" sz="3200" dirty="0"/>
              <a:t>Wolfram Mathematica</a:t>
            </a:r>
          </a:p>
        </p:txBody>
      </p:sp>
      <p:pic>
        <p:nvPicPr>
          <p:cNvPr id="1032" name="Picture 8">
            <a:extLst>
              <a:ext uri="{FF2B5EF4-FFF2-40B4-BE49-F238E27FC236}">
                <a16:creationId xmlns:a16="http://schemas.microsoft.com/office/drawing/2014/main" id="{C228DAB5-4788-D7E0-8D13-BA6F22CE515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70157" y="3511723"/>
            <a:ext cx="1152525" cy="895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157BCB4-3A5F-970D-46BA-3E195AEB234A}"/>
              </a:ext>
            </a:extLst>
          </p:cNvPr>
          <p:cNvSpPr txBox="1"/>
          <p:nvPr/>
        </p:nvSpPr>
        <p:spPr>
          <a:xfrm>
            <a:off x="8495180" y="3420789"/>
            <a:ext cx="3696820" cy="1077218"/>
          </a:xfrm>
          <a:prstGeom prst="rect">
            <a:avLst/>
          </a:prstGeom>
          <a:noFill/>
        </p:spPr>
        <p:txBody>
          <a:bodyPr wrap="square">
            <a:spAutoFit/>
          </a:bodyPr>
          <a:lstStyle/>
          <a:p>
            <a:r>
              <a:rPr lang="en-US" sz="3200" dirty="0"/>
              <a:t>R (programming language)</a:t>
            </a:r>
          </a:p>
        </p:txBody>
      </p:sp>
      <p:pic>
        <p:nvPicPr>
          <p:cNvPr id="1034" name="Picture 10">
            <a:extLst>
              <a:ext uri="{FF2B5EF4-FFF2-40B4-BE49-F238E27FC236}">
                <a16:creationId xmlns:a16="http://schemas.microsoft.com/office/drawing/2014/main" id="{669A0B9A-EAAF-FA4D-BC8F-1261CE6727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2524" y="5057110"/>
            <a:ext cx="4004236" cy="127687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7B8AC7F2-18E5-62A3-039E-BE90DB1334F4}"/>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2</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ustomShape 1"/>
          <p:cNvSpPr/>
          <p:nvPr/>
        </p:nvSpPr>
        <p:spPr>
          <a:xfrm>
            <a:off x="825480" y="63972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dirty="0">
                <a:solidFill>
                  <a:srgbClr val="000000"/>
                </a:solidFill>
                <a:latin typeface="Arial"/>
                <a:ea typeface="DejaVu Sans"/>
              </a:rPr>
              <a:t>MATLAB</a:t>
            </a:r>
            <a:r>
              <a:rPr lang="en-US" sz="3000" spc="-1" dirty="0">
                <a:solidFill>
                  <a:srgbClr val="000000"/>
                </a:solidFill>
                <a:latin typeface="Arial"/>
                <a:ea typeface="DejaVu Sans"/>
              </a:rPr>
              <a:t> in Engineering</a:t>
            </a:r>
            <a:endParaRPr lang="en-US" sz="3000" b="0" strike="noStrike" spc="-1" dirty="0">
              <a:latin typeface="Arial"/>
            </a:endParaRPr>
          </a:p>
        </p:txBody>
      </p:sp>
      <p:pic>
        <p:nvPicPr>
          <p:cNvPr id="151" name="Picture 2"/>
          <p:cNvPicPr/>
          <p:nvPr/>
        </p:nvPicPr>
        <p:blipFill>
          <a:blip r:embed="rId3"/>
          <a:stretch/>
        </p:blipFill>
        <p:spPr>
          <a:xfrm>
            <a:off x="7480080" y="2687940"/>
            <a:ext cx="4013640" cy="2865960"/>
          </a:xfrm>
          <a:prstGeom prst="rect">
            <a:avLst/>
          </a:prstGeom>
          <a:ln>
            <a:noFill/>
          </a:ln>
        </p:spPr>
      </p:pic>
      <p:pic>
        <p:nvPicPr>
          <p:cNvPr id="152" name="Picture 3"/>
          <p:cNvPicPr/>
          <p:nvPr/>
        </p:nvPicPr>
        <p:blipFill>
          <a:blip r:embed="rId4"/>
          <a:srcRect l="3496" t="20895" b="27041"/>
          <a:stretch/>
        </p:blipFill>
        <p:spPr>
          <a:xfrm>
            <a:off x="6956640" y="767520"/>
            <a:ext cx="4537080" cy="1504440"/>
          </a:xfrm>
          <a:prstGeom prst="rect">
            <a:avLst/>
          </a:prstGeom>
          <a:ln>
            <a:noFill/>
          </a:ln>
        </p:spPr>
      </p:pic>
      <p:sp>
        <p:nvSpPr>
          <p:cNvPr id="153" name="CustomShape 2"/>
          <p:cNvSpPr/>
          <p:nvPr/>
        </p:nvSpPr>
        <p:spPr>
          <a:xfrm>
            <a:off x="476302" y="1397880"/>
            <a:ext cx="6557400" cy="4572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dirty="0">
                <a:solidFill>
                  <a:srgbClr val="000000"/>
                </a:solidFill>
                <a:latin typeface="Arial"/>
                <a:ea typeface="DejaVu Sans"/>
              </a:rPr>
              <a:t>Pros:</a:t>
            </a:r>
            <a:endParaRPr lang="en-US" sz="1800" b="0" strike="noStrike" spc="-1" dirty="0">
              <a:latin typeface="Arial"/>
            </a:endParaRPr>
          </a:p>
          <a:p>
            <a:pPr marL="28584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Works out of the box. </a:t>
            </a:r>
            <a:endParaRPr lang="en-US" sz="1800" b="0" strike="noStrike" spc="-1" dirty="0">
              <a:latin typeface="Arial"/>
            </a:endParaRPr>
          </a:p>
          <a:p>
            <a:pPr marL="28584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Code is well managed and packages don’t conflict.</a:t>
            </a:r>
            <a:endParaRPr lang="en-US" sz="1800" b="0" strike="noStrike" spc="-1" dirty="0">
              <a:latin typeface="Arial"/>
            </a:endParaRPr>
          </a:p>
          <a:p>
            <a:pPr marL="28584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Widely used in engineering and computing.</a:t>
            </a:r>
            <a:endParaRPr lang="en-US" sz="1800" b="0" strike="noStrike" spc="-1" dirty="0">
              <a:latin typeface="Arial"/>
            </a:endParaRPr>
          </a:p>
          <a:p>
            <a:pPr marL="28584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Well formulated for linear algebra with simple commands</a:t>
            </a:r>
            <a:endParaRPr lang="en-US" sz="1800" b="0" strike="noStrike" spc="-1" dirty="0">
              <a:latin typeface="Arial"/>
            </a:endParaRPr>
          </a:p>
          <a:p>
            <a:pPr marL="28584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Fast implementation of code for complex problem solving </a:t>
            </a:r>
          </a:p>
          <a:p>
            <a:pPr marL="285840" indent="-285480">
              <a:spcBef>
                <a:spcPts val="601"/>
              </a:spcBef>
              <a:buClr>
                <a:srgbClr val="000000"/>
              </a:buClr>
              <a:buFont typeface="Arial"/>
              <a:buChar char="•"/>
            </a:pPr>
            <a:r>
              <a:rPr lang="en-US" sz="1800" b="0" strike="noStrike" spc="-1" dirty="0">
                <a:solidFill>
                  <a:srgbClr val="000000"/>
                </a:solidFill>
                <a:latin typeface="Arial"/>
                <a:ea typeface="DejaVu Sans"/>
              </a:rPr>
              <a:t>Not at the bleeding edge of machine learning</a:t>
            </a:r>
            <a:endParaRPr lang="en-US" sz="1800" b="0" strike="noStrike" spc="-1" dirty="0">
              <a:latin typeface="Arial"/>
            </a:endParaRPr>
          </a:p>
          <a:p>
            <a:pPr>
              <a:lnSpc>
                <a:spcPct val="100000"/>
              </a:lnSpc>
              <a:spcBef>
                <a:spcPts val="601"/>
              </a:spcBef>
            </a:pPr>
            <a:r>
              <a:rPr lang="en-US" sz="1800" b="0" strike="noStrike" spc="-1" dirty="0">
                <a:solidFill>
                  <a:srgbClr val="000000"/>
                </a:solidFill>
                <a:latin typeface="Arial"/>
                <a:ea typeface="DejaVu Sans"/>
              </a:rPr>
              <a:t>Cons:</a:t>
            </a:r>
            <a:endParaRPr lang="en-US" sz="1800" b="0" strike="noStrike" spc="-1" dirty="0">
              <a:latin typeface="Arial"/>
            </a:endParaRPr>
          </a:p>
          <a:p>
            <a:pPr marL="28620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Not free as in speech, not free as in beer</a:t>
            </a:r>
            <a:endParaRPr lang="en-US" sz="1800" b="0" strike="noStrike" spc="-1" dirty="0">
              <a:latin typeface="Arial"/>
            </a:endParaRPr>
          </a:p>
          <a:p>
            <a:pPr marL="28620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Each module must be paid for separately </a:t>
            </a:r>
            <a:endParaRPr lang="en-US" sz="1800" b="0" strike="noStrike" spc="-1" dirty="0">
              <a:latin typeface="Arial"/>
            </a:endParaRPr>
          </a:p>
          <a:p>
            <a:pPr marL="285840" indent="-285480">
              <a:spcBef>
                <a:spcPts val="601"/>
              </a:spcBef>
              <a:buClr>
                <a:srgbClr val="000000"/>
              </a:buClr>
              <a:buFont typeface="Arial"/>
              <a:buChar char="•"/>
            </a:pPr>
            <a:r>
              <a:rPr lang="en-US" sz="1800" b="0" strike="noStrike" spc="-1" dirty="0">
                <a:solidFill>
                  <a:srgbClr val="000000"/>
                </a:solidFill>
                <a:latin typeface="Arial"/>
                <a:ea typeface="DejaVu Sans"/>
              </a:rPr>
              <a:t>Not at the bleeding edge of machine learning</a:t>
            </a:r>
            <a:endParaRPr lang="en-US" sz="1800" b="0" strike="noStrike" spc="-1" dirty="0">
              <a:latin typeface="Arial"/>
            </a:endParaRPr>
          </a:p>
          <a:p>
            <a:pPr marL="28620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Difficult to keep license updated on multiple machines</a:t>
            </a:r>
            <a:endParaRPr lang="en-US" sz="1800" b="0" strike="noStrike" spc="-1" dirty="0">
              <a:latin typeface="Arial"/>
            </a:endParaRPr>
          </a:p>
          <a:p>
            <a:pPr marL="286200" indent="-285480">
              <a:lnSpc>
                <a:spcPct val="100000"/>
              </a:lnSpc>
              <a:spcBef>
                <a:spcPts val="601"/>
              </a:spcBef>
              <a:buClr>
                <a:srgbClr val="000000"/>
              </a:buClr>
              <a:buFont typeface="Arial"/>
              <a:buChar char="•"/>
            </a:pPr>
            <a:r>
              <a:rPr lang="en-US" sz="1800" b="0" strike="noStrike" spc="-1" dirty="0">
                <a:solidFill>
                  <a:srgbClr val="000000"/>
                </a:solidFill>
                <a:latin typeface="Arial"/>
                <a:ea typeface="DejaVu Sans"/>
              </a:rPr>
              <a:t>Lets you write poorly structured code.</a:t>
            </a:r>
            <a:endParaRPr lang="en-US" sz="1800" b="0" strike="noStrike" spc="-1" dirty="0">
              <a:latin typeface="Arial"/>
            </a:endParaRPr>
          </a:p>
        </p:txBody>
      </p:sp>
      <p:sp>
        <p:nvSpPr>
          <p:cNvPr id="2" name="Slide Number Placeholder 3">
            <a:extLst>
              <a:ext uri="{FF2B5EF4-FFF2-40B4-BE49-F238E27FC236}">
                <a16:creationId xmlns:a16="http://schemas.microsoft.com/office/drawing/2014/main" id="{443E5C57-4A5E-73BA-55F5-01347CDF9551}"/>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3</a:t>
            </a:fld>
            <a:endParaRPr lang="en-US"/>
          </a:p>
        </p:txBody>
      </p:sp>
    </p:spTree>
    <p:extLst>
      <p:ext uri="{BB962C8B-B14F-4D97-AF65-F5344CB8AC3E}">
        <p14:creationId xmlns:p14="http://schemas.microsoft.com/office/powerpoint/2010/main" val="255126230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ustomShape 1"/>
          <p:cNvSpPr/>
          <p:nvPr/>
        </p:nvSpPr>
        <p:spPr>
          <a:xfrm>
            <a:off x="825480" y="63972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dirty="0">
                <a:solidFill>
                  <a:srgbClr val="000000"/>
                </a:solidFill>
                <a:latin typeface="Arial"/>
                <a:ea typeface="DejaVu Sans"/>
              </a:rPr>
              <a:t>MATLAB</a:t>
            </a:r>
            <a:r>
              <a:rPr lang="en-US" sz="3000" spc="-1" dirty="0">
                <a:solidFill>
                  <a:srgbClr val="000000"/>
                </a:solidFill>
                <a:latin typeface="Arial"/>
                <a:ea typeface="DejaVu Sans"/>
              </a:rPr>
              <a:t> in Engineering</a:t>
            </a:r>
            <a:endParaRPr lang="en-US" sz="3000" b="0" strike="noStrike" spc="-1" dirty="0">
              <a:latin typeface="Arial"/>
            </a:endParaRPr>
          </a:p>
        </p:txBody>
      </p:sp>
      <p:pic>
        <p:nvPicPr>
          <p:cNvPr id="2050" name="Picture 2" descr="What's New in Simulink R2022a! » Guy on Simulink - MATLAB &amp; Simulink">
            <a:extLst>
              <a:ext uri="{FF2B5EF4-FFF2-40B4-BE49-F238E27FC236}">
                <a16:creationId xmlns:a16="http://schemas.microsoft.com/office/drawing/2014/main" id="{D7A45AFF-0FA6-B365-B032-F26938A5B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1506817"/>
            <a:ext cx="5346700" cy="426374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imulink - Wikipedia">
            <a:extLst>
              <a:ext uri="{FF2B5EF4-FFF2-40B4-BE49-F238E27FC236}">
                <a16:creationId xmlns:a16="http://schemas.microsoft.com/office/drawing/2014/main" id="{2DDA44F9-C23B-D333-4DC4-3B73BCB21A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641255"/>
            <a:ext cx="5511478" cy="41293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62260C5-6565-3848-9B2C-6283E78CE20F}"/>
              </a:ext>
            </a:extLst>
          </p:cNvPr>
          <p:cNvSpPr txBox="1"/>
          <p:nvPr/>
        </p:nvSpPr>
        <p:spPr>
          <a:xfrm>
            <a:off x="6096000" y="5818572"/>
            <a:ext cx="2895600" cy="646331"/>
          </a:xfrm>
          <a:prstGeom prst="rect">
            <a:avLst/>
          </a:prstGeom>
          <a:noFill/>
        </p:spPr>
        <p:txBody>
          <a:bodyPr wrap="square">
            <a:spAutoFit/>
          </a:bodyPr>
          <a:lstStyle/>
          <a:p>
            <a:r>
              <a:rPr lang="en-US" sz="1200" dirty="0"/>
              <a:t>Mcarone1, CC BY-SA 3.0 &lt;https://creativecommons.org/licenses/by-sa/3.0&gt;, via Wikimedia Commons</a:t>
            </a:r>
          </a:p>
        </p:txBody>
      </p:sp>
      <p:sp>
        <p:nvSpPr>
          <p:cNvPr id="4" name="TextBox 3">
            <a:extLst>
              <a:ext uri="{FF2B5EF4-FFF2-40B4-BE49-F238E27FC236}">
                <a16:creationId xmlns:a16="http://schemas.microsoft.com/office/drawing/2014/main" id="{8BD3E368-A94D-6A24-9A1F-FC44DA77A3B2}"/>
              </a:ext>
            </a:extLst>
          </p:cNvPr>
          <p:cNvSpPr txBox="1"/>
          <p:nvPr/>
        </p:nvSpPr>
        <p:spPr>
          <a:xfrm>
            <a:off x="1860549" y="5854353"/>
            <a:ext cx="2895600" cy="276999"/>
          </a:xfrm>
          <a:prstGeom prst="rect">
            <a:avLst/>
          </a:prstGeom>
          <a:noFill/>
        </p:spPr>
        <p:txBody>
          <a:bodyPr wrap="square">
            <a:spAutoFit/>
          </a:bodyPr>
          <a:lstStyle/>
          <a:p>
            <a:r>
              <a:rPr lang="en-US" sz="1200" dirty="0" err="1"/>
              <a:t>Matlab</a:t>
            </a:r>
            <a:r>
              <a:rPr lang="en-US" sz="1200" dirty="0"/>
              <a:t>, via matlab.com</a:t>
            </a:r>
          </a:p>
        </p:txBody>
      </p:sp>
      <p:sp>
        <p:nvSpPr>
          <p:cNvPr id="2" name="Slide Number Placeholder 3">
            <a:extLst>
              <a:ext uri="{FF2B5EF4-FFF2-40B4-BE49-F238E27FC236}">
                <a16:creationId xmlns:a16="http://schemas.microsoft.com/office/drawing/2014/main" id="{1D996249-59EF-BA76-C312-B4C9260C54D7}"/>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4</a:t>
            </a:fld>
            <a:endParaRPr lang="en-US"/>
          </a:p>
        </p:txBody>
      </p:sp>
    </p:spTree>
    <p:extLst>
      <p:ext uri="{BB962C8B-B14F-4D97-AF65-F5344CB8AC3E}">
        <p14:creationId xmlns:p14="http://schemas.microsoft.com/office/powerpoint/2010/main" val="211528069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CustomShape 1"/>
          <p:cNvSpPr/>
          <p:nvPr/>
        </p:nvSpPr>
        <p:spPr>
          <a:xfrm>
            <a:off x="414720" y="341640"/>
            <a:ext cx="1984680" cy="82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90000"/>
              </a:lnSpc>
              <a:spcBef>
                <a:spcPts val="1001"/>
              </a:spcBef>
            </a:pPr>
            <a:endParaRPr lang="en-US" sz="1800" b="0" strike="noStrike" spc="-1" dirty="0">
              <a:latin typeface="Arial"/>
            </a:endParaRPr>
          </a:p>
          <a:p>
            <a:pPr>
              <a:lnSpc>
                <a:spcPct val="100000"/>
              </a:lnSpc>
            </a:pPr>
            <a:r>
              <a:rPr lang="en-US" sz="4400" b="0" strike="noStrike" spc="-1" dirty="0">
                <a:solidFill>
                  <a:srgbClr val="000000"/>
                </a:solidFill>
                <a:latin typeface="Arial"/>
                <a:ea typeface="DejaVu Sans"/>
              </a:rPr>
              <a:t>Python</a:t>
            </a:r>
            <a:endParaRPr lang="en-US" sz="4400" b="0" strike="noStrike" spc="-1" dirty="0">
              <a:latin typeface="Arial"/>
            </a:endParaRPr>
          </a:p>
        </p:txBody>
      </p:sp>
      <p:sp>
        <p:nvSpPr>
          <p:cNvPr id="129" name="CustomShape 2"/>
          <p:cNvSpPr/>
          <p:nvPr/>
        </p:nvSpPr>
        <p:spPr>
          <a:xfrm>
            <a:off x="547559" y="1250060"/>
            <a:ext cx="10776613" cy="845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strike="noStrike" spc="-1" dirty="0">
                <a:solidFill>
                  <a:srgbClr val="000000"/>
                </a:solidFill>
                <a:latin typeface="Arial"/>
                <a:ea typeface="DejaVu Sans"/>
              </a:rPr>
              <a:t>Python is scripting language that can be used for Scientific Computing.</a:t>
            </a:r>
            <a:endParaRPr lang="en-US" sz="1800" strike="noStrike" spc="-1" dirty="0">
              <a:latin typeface="Arial"/>
            </a:endParaRPr>
          </a:p>
        </p:txBody>
      </p:sp>
      <p:sp>
        <p:nvSpPr>
          <p:cNvPr id="130" name="CustomShape 3"/>
          <p:cNvSpPr/>
          <p:nvPr/>
        </p:nvSpPr>
        <p:spPr>
          <a:xfrm>
            <a:off x="2413080" y="8795880"/>
            <a:ext cx="212076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latin typeface="Arial"/>
                <a:ea typeface="DejaVu Sans"/>
              </a:rPr>
              <a:t>Guido van Rossum</a:t>
            </a:r>
            <a:endParaRPr lang="en-US" sz="1800" b="0" strike="noStrike" spc="-1">
              <a:latin typeface="Arial"/>
            </a:endParaRPr>
          </a:p>
        </p:txBody>
      </p:sp>
      <p:pic>
        <p:nvPicPr>
          <p:cNvPr id="3074" name="Picture 2">
            <a:extLst>
              <a:ext uri="{FF2B5EF4-FFF2-40B4-BE49-F238E27FC236}">
                <a16:creationId xmlns:a16="http://schemas.microsoft.com/office/drawing/2014/main" id="{4B76F723-02EC-DBEE-3ABB-10101B6D7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7090" y="1735001"/>
            <a:ext cx="6413500" cy="45345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63760F-C3C1-04A3-DF71-6C1DE8426371}"/>
              </a:ext>
            </a:extLst>
          </p:cNvPr>
          <p:cNvSpPr txBox="1"/>
          <p:nvPr/>
        </p:nvSpPr>
        <p:spPr>
          <a:xfrm>
            <a:off x="965570" y="6247321"/>
            <a:ext cx="7759700" cy="276999"/>
          </a:xfrm>
          <a:prstGeom prst="rect">
            <a:avLst/>
          </a:prstGeom>
          <a:noFill/>
        </p:spPr>
        <p:txBody>
          <a:bodyPr wrap="square">
            <a:spAutoFit/>
          </a:bodyPr>
          <a:lstStyle/>
          <a:p>
            <a:r>
              <a:rPr lang="en-US" sz="1200" dirty="0" err="1"/>
              <a:t>Максим</a:t>
            </a:r>
            <a:r>
              <a:rPr lang="en-US" sz="1200" dirty="0"/>
              <a:t> </a:t>
            </a:r>
            <a:r>
              <a:rPr lang="en-US" sz="1200" dirty="0" err="1"/>
              <a:t>Пе</a:t>
            </a:r>
            <a:r>
              <a:rPr lang="en-US" sz="1200" dirty="0"/>
              <a:t>, CC BY-SA 4.0 &lt;https://creativecommons.org/licenses/by-sa/4.0&gt;, via Wikimedia Commons</a:t>
            </a:r>
          </a:p>
        </p:txBody>
      </p:sp>
      <p:pic>
        <p:nvPicPr>
          <p:cNvPr id="3076" name="Picture 4">
            <a:extLst>
              <a:ext uri="{FF2B5EF4-FFF2-40B4-BE49-F238E27FC236}">
                <a16:creationId xmlns:a16="http://schemas.microsoft.com/office/drawing/2014/main" id="{A8C0BC2C-FD54-D061-92FD-71E5C963868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222" r="23333" b="48148"/>
          <a:stretch/>
        </p:blipFill>
        <p:spPr bwMode="auto">
          <a:xfrm>
            <a:off x="9691315" y="2095700"/>
            <a:ext cx="1632857" cy="18288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FF5CEE9-73A8-4089-E9D4-4CF7CD7A0A0C}"/>
              </a:ext>
            </a:extLst>
          </p:cNvPr>
          <p:cNvSpPr txBox="1"/>
          <p:nvPr/>
        </p:nvSpPr>
        <p:spPr>
          <a:xfrm>
            <a:off x="9313943" y="3994208"/>
            <a:ext cx="2387600" cy="600164"/>
          </a:xfrm>
          <a:prstGeom prst="rect">
            <a:avLst/>
          </a:prstGeom>
          <a:noFill/>
        </p:spPr>
        <p:txBody>
          <a:bodyPr wrap="square">
            <a:spAutoFit/>
          </a:bodyPr>
          <a:lstStyle/>
          <a:p>
            <a:r>
              <a:rPr lang="en-US" sz="1100" dirty="0"/>
              <a:t>https://upload.wikimedia.org/wikipedia/commons/6/66/Guido_van_Rossum_OSCON_2006.jpg</a:t>
            </a:r>
          </a:p>
        </p:txBody>
      </p:sp>
      <p:sp>
        <p:nvSpPr>
          <p:cNvPr id="9" name="TextBox 8">
            <a:extLst>
              <a:ext uri="{FF2B5EF4-FFF2-40B4-BE49-F238E27FC236}">
                <a16:creationId xmlns:a16="http://schemas.microsoft.com/office/drawing/2014/main" id="{974D6D22-4A80-C5D2-06E7-89C6C0168F47}"/>
              </a:ext>
            </a:extLst>
          </p:cNvPr>
          <p:cNvSpPr txBox="1"/>
          <p:nvPr/>
        </p:nvSpPr>
        <p:spPr>
          <a:xfrm>
            <a:off x="9486900" y="1656660"/>
            <a:ext cx="6096000" cy="369332"/>
          </a:xfrm>
          <a:prstGeom prst="rect">
            <a:avLst/>
          </a:prstGeom>
          <a:noFill/>
        </p:spPr>
        <p:txBody>
          <a:bodyPr wrap="square">
            <a:spAutoFit/>
          </a:bodyPr>
          <a:lstStyle/>
          <a:p>
            <a:r>
              <a:rPr lang="en-US" dirty="0"/>
              <a:t>Guido van Rossum</a:t>
            </a:r>
          </a:p>
        </p:txBody>
      </p:sp>
      <p:sp>
        <p:nvSpPr>
          <p:cNvPr id="13" name="TextBox 12">
            <a:extLst>
              <a:ext uri="{FF2B5EF4-FFF2-40B4-BE49-F238E27FC236}">
                <a16:creationId xmlns:a16="http://schemas.microsoft.com/office/drawing/2014/main" id="{382D4297-9804-15AC-507C-E97B47827205}"/>
              </a:ext>
            </a:extLst>
          </p:cNvPr>
          <p:cNvSpPr txBox="1"/>
          <p:nvPr/>
        </p:nvSpPr>
        <p:spPr>
          <a:xfrm>
            <a:off x="9274255" y="4878174"/>
            <a:ext cx="2466975" cy="646331"/>
          </a:xfrm>
          <a:prstGeom prst="rect">
            <a:avLst/>
          </a:prstGeom>
          <a:noFill/>
        </p:spPr>
        <p:txBody>
          <a:bodyPr wrap="square">
            <a:spAutoFit/>
          </a:bodyPr>
          <a:lstStyle/>
          <a:p>
            <a:pPr algn="ctr"/>
            <a:r>
              <a:rPr lang="en-US" dirty="0"/>
              <a:t>Named after </a:t>
            </a:r>
            <a:r>
              <a:rPr lang="en-US" i="1" dirty="0"/>
              <a:t>Monty Python's Flying Circus</a:t>
            </a:r>
          </a:p>
        </p:txBody>
      </p:sp>
      <p:sp>
        <p:nvSpPr>
          <p:cNvPr id="2" name="Slide Number Placeholder 3">
            <a:extLst>
              <a:ext uri="{FF2B5EF4-FFF2-40B4-BE49-F238E27FC236}">
                <a16:creationId xmlns:a16="http://schemas.microsoft.com/office/drawing/2014/main" id="{C401F271-6ACF-8D5D-8C03-C831F01C68AB}"/>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5</a:t>
            </a:fld>
            <a:endParaRPr lang="en-US"/>
          </a:p>
        </p:txBody>
      </p:sp>
    </p:spTree>
    <p:extLst>
      <p:ext uri="{BB962C8B-B14F-4D97-AF65-F5344CB8AC3E}">
        <p14:creationId xmlns:p14="http://schemas.microsoft.com/office/powerpoint/2010/main" val="278676201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CustomShape 1"/>
          <p:cNvSpPr/>
          <p:nvPr/>
        </p:nvSpPr>
        <p:spPr>
          <a:xfrm>
            <a:off x="414720" y="341640"/>
            <a:ext cx="1984680" cy="82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90000"/>
              </a:lnSpc>
              <a:spcBef>
                <a:spcPts val="1001"/>
              </a:spcBef>
            </a:pPr>
            <a:endParaRPr lang="en-US" sz="1800" b="0" strike="noStrike" spc="-1">
              <a:latin typeface="Arial"/>
            </a:endParaRPr>
          </a:p>
          <a:p>
            <a:pPr>
              <a:lnSpc>
                <a:spcPct val="100000"/>
              </a:lnSpc>
            </a:pPr>
            <a:r>
              <a:rPr lang="en-US" sz="4400" b="0" strike="noStrike" spc="-1">
                <a:solidFill>
                  <a:srgbClr val="000000"/>
                </a:solidFill>
                <a:latin typeface="Arial"/>
                <a:ea typeface="DejaVu Sans"/>
              </a:rPr>
              <a:t>Python</a:t>
            </a:r>
            <a:endParaRPr lang="en-US" sz="4400" b="0" strike="noStrike" spc="-1">
              <a:latin typeface="Arial"/>
            </a:endParaRPr>
          </a:p>
        </p:txBody>
      </p:sp>
      <p:pic>
        <p:nvPicPr>
          <p:cNvPr id="128" name="Graphic 6"/>
          <p:cNvPicPr/>
          <p:nvPr/>
        </p:nvPicPr>
        <p:blipFill>
          <a:blip r:embed="rId3"/>
          <a:stretch/>
        </p:blipFill>
        <p:spPr>
          <a:xfrm>
            <a:off x="9605880" y="1456560"/>
            <a:ext cx="2037600" cy="2037600"/>
          </a:xfrm>
          <a:prstGeom prst="rect">
            <a:avLst/>
          </a:prstGeom>
          <a:ln>
            <a:noFill/>
          </a:ln>
        </p:spPr>
      </p:pic>
      <p:sp>
        <p:nvSpPr>
          <p:cNvPr id="129" name="CustomShape 2"/>
          <p:cNvSpPr/>
          <p:nvPr/>
        </p:nvSpPr>
        <p:spPr>
          <a:xfrm>
            <a:off x="547560" y="1456560"/>
            <a:ext cx="8595720" cy="423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a:solidFill>
                  <a:srgbClr val="000000"/>
                </a:solidFill>
                <a:latin typeface="Arial"/>
                <a:ea typeface="DejaVu Sans"/>
              </a:rPr>
              <a:t>Python is an </a:t>
            </a:r>
            <a:r>
              <a:rPr lang="en-US" sz="1800" b="1" strike="noStrike" spc="-1">
                <a:solidFill>
                  <a:srgbClr val="000000"/>
                </a:solidFill>
                <a:latin typeface="Arial"/>
                <a:ea typeface="DejaVu Sans"/>
              </a:rPr>
              <a:t>interpreted</a:t>
            </a:r>
            <a:r>
              <a:rPr lang="en-US" sz="1800" b="0" strike="noStrike" spc="-1">
                <a:solidFill>
                  <a:srgbClr val="000000"/>
                </a:solidFill>
                <a:latin typeface="Arial"/>
                <a:ea typeface="DejaVu Sans"/>
              </a:rPr>
              <a:t> (mostly), </a:t>
            </a:r>
            <a:r>
              <a:rPr lang="en-US" sz="1800" b="1" strike="noStrike" spc="-1">
                <a:solidFill>
                  <a:srgbClr val="000000"/>
                </a:solidFill>
                <a:latin typeface="Arial"/>
                <a:ea typeface="DejaVu Sans"/>
              </a:rPr>
              <a:t>high-level</a:t>
            </a:r>
            <a:r>
              <a:rPr lang="en-US" sz="1800" b="0" strike="noStrike" spc="-1">
                <a:solidFill>
                  <a:srgbClr val="000000"/>
                </a:solidFill>
                <a:latin typeface="Arial"/>
                <a:ea typeface="DejaVu Sans"/>
              </a:rPr>
              <a:t>, </a:t>
            </a:r>
            <a:r>
              <a:rPr lang="en-US" sz="1800" b="1" strike="noStrike" spc="-1">
                <a:solidFill>
                  <a:srgbClr val="000000"/>
                </a:solidFill>
                <a:latin typeface="Arial"/>
                <a:ea typeface="DejaVu Sans"/>
              </a:rPr>
              <a:t>general-purpose</a:t>
            </a:r>
            <a:r>
              <a:rPr lang="en-US" sz="1800" b="0" strike="noStrike" spc="-1">
                <a:solidFill>
                  <a:srgbClr val="000000"/>
                </a:solidFill>
                <a:latin typeface="Arial"/>
                <a:ea typeface="DejaVu Sans"/>
              </a:rPr>
              <a:t> programming language with an </a:t>
            </a:r>
            <a:r>
              <a:rPr lang="en-US" sz="1800" b="1" strike="noStrike" spc="-1">
                <a:solidFill>
                  <a:srgbClr val="000000"/>
                </a:solidFill>
                <a:latin typeface="Arial"/>
                <a:ea typeface="DejaVu Sans"/>
              </a:rPr>
              <a:t>object-oriented</a:t>
            </a:r>
            <a:r>
              <a:rPr lang="en-US" sz="1800" b="0" strike="noStrike" spc="-1">
                <a:solidFill>
                  <a:srgbClr val="000000"/>
                </a:solidFill>
                <a:latin typeface="Arial"/>
                <a:ea typeface="DejaVu Sans"/>
              </a:rPr>
              <a:t> approach.</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1" strike="noStrike" spc="-1">
                <a:solidFill>
                  <a:srgbClr val="000000"/>
                </a:solidFill>
                <a:latin typeface="Arial"/>
                <a:ea typeface="DejaVu Sans"/>
              </a:rPr>
              <a:t>Interpreted language: </a:t>
            </a:r>
            <a:r>
              <a:rPr lang="en-US" sz="1800" b="0" strike="noStrike" spc="-1">
                <a:solidFill>
                  <a:srgbClr val="000000"/>
                </a:solidFill>
                <a:latin typeface="Arial"/>
                <a:ea typeface="DejaVu Sans"/>
              </a:rPr>
              <a:t>is a type of programming language for which its instructions execute directly and freely, without previously compiling a program into machine-language instructions.</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1" strike="noStrike" spc="-1">
                <a:solidFill>
                  <a:srgbClr val="000000"/>
                </a:solidFill>
                <a:latin typeface="Arial"/>
                <a:ea typeface="DejaVu Sans"/>
              </a:rPr>
              <a:t>High-level:</a:t>
            </a:r>
            <a:r>
              <a:rPr lang="en-US" sz="1800" b="0" strike="noStrike" spc="-1">
                <a:solidFill>
                  <a:srgbClr val="000000"/>
                </a:solidFill>
                <a:latin typeface="Arial"/>
                <a:ea typeface="DejaVu Sans"/>
              </a:rPr>
              <a:t> a programming language with strong abstraction from the details of the computer.</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1" strike="noStrike" spc="-1">
                <a:solidFill>
                  <a:srgbClr val="000000"/>
                </a:solidFill>
                <a:latin typeface="Arial"/>
                <a:ea typeface="DejaVu Sans"/>
              </a:rPr>
              <a:t>General-purpose:</a:t>
            </a:r>
            <a:r>
              <a:rPr lang="en-US" sz="1800" b="0" strike="noStrike" spc="-1">
                <a:solidFill>
                  <a:srgbClr val="000000"/>
                </a:solidFill>
                <a:latin typeface="Arial"/>
                <a:ea typeface="DejaVu Sans"/>
              </a:rPr>
              <a:t> is a programming language designed to be used for writing software in the widest variety of application domains (a general-purpose language).</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1" strike="noStrike" spc="-1">
                <a:solidFill>
                  <a:srgbClr val="000000"/>
                </a:solidFill>
                <a:latin typeface="Arial"/>
                <a:ea typeface="DejaVu Sans"/>
              </a:rPr>
              <a:t>Object-oriented: </a:t>
            </a:r>
            <a:r>
              <a:rPr lang="en-US" sz="1800" b="0" strike="noStrike" spc="-1">
                <a:solidFill>
                  <a:srgbClr val="000000"/>
                </a:solidFill>
                <a:latin typeface="Arial"/>
                <a:ea typeface="DejaVu Sans"/>
              </a:rPr>
              <a:t>is a programming paradigm based on the concept of "objects", which can contain data, in the form of fields (often known as attributes or properties), and code, in the form of procedures (often known as methods). </a:t>
            </a:r>
            <a:endParaRPr lang="en-US" sz="1800" b="0" strike="noStrike" spc="-1">
              <a:latin typeface="Arial"/>
            </a:endParaRPr>
          </a:p>
        </p:txBody>
      </p:sp>
      <p:sp>
        <p:nvSpPr>
          <p:cNvPr id="130" name="CustomShape 3"/>
          <p:cNvSpPr/>
          <p:nvPr/>
        </p:nvSpPr>
        <p:spPr>
          <a:xfrm>
            <a:off x="2413080" y="8795880"/>
            <a:ext cx="212076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latin typeface="Arial"/>
                <a:ea typeface="DejaVu Sans"/>
              </a:rPr>
              <a:t>Guido van Rossum</a:t>
            </a:r>
            <a:endParaRPr lang="en-US" sz="1800" b="0" strike="noStrike" spc="-1">
              <a:latin typeface="Arial"/>
            </a:endParaRPr>
          </a:p>
        </p:txBody>
      </p:sp>
      <p:sp>
        <p:nvSpPr>
          <p:cNvPr id="2" name="Slide Number Placeholder 3">
            <a:extLst>
              <a:ext uri="{FF2B5EF4-FFF2-40B4-BE49-F238E27FC236}">
                <a16:creationId xmlns:a16="http://schemas.microsoft.com/office/drawing/2014/main" id="{E14AB8BB-62F7-8ECE-6D5C-40C868EC1E7B}"/>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6</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CustomShape 1"/>
          <p:cNvSpPr/>
          <p:nvPr/>
        </p:nvSpPr>
        <p:spPr>
          <a:xfrm>
            <a:off x="414720" y="341640"/>
            <a:ext cx="1984680" cy="82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90000"/>
              </a:lnSpc>
              <a:spcBef>
                <a:spcPts val="1001"/>
              </a:spcBef>
            </a:pPr>
            <a:endParaRPr lang="en-US" sz="1800" b="0" strike="noStrike" spc="-1">
              <a:latin typeface="Arial"/>
            </a:endParaRPr>
          </a:p>
          <a:p>
            <a:pPr>
              <a:lnSpc>
                <a:spcPct val="100000"/>
              </a:lnSpc>
            </a:pPr>
            <a:r>
              <a:rPr lang="en-US" sz="4400" b="0" strike="noStrike" spc="-1">
                <a:solidFill>
                  <a:srgbClr val="000000"/>
                </a:solidFill>
                <a:latin typeface="Arial"/>
                <a:ea typeface="DejaVu Sans"/>
              </a:rPr>
              <a:t>Python</a:t>
            </a:r>
            <a:endParaRPr lang="en-US" sz="4400" b="0" strike="noStrike" spc="-1">
              <a:latin typeface="Arial"/>
            </a:endParaRPr>
          </a:p>
        </p:txBody>
      </p:sp>
      <p:sp>
        <p:nvSpPr>
          <p:cNvPr id="132" name="CustomShape 2"/>
          <p:cNvSpPr/>
          <p:nvPr/>
        </p:nvSpPr>
        <p:spPr>
          <a:xfrm>
            <a:off x="547560" y="1456560"/>
            <a:ext cx="11181600" cy="3687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a:solidFill>
                  <a:srgbClr val="000000"/>
                </a:solidFill>
                <a:latin typeface="Arial"/>
                <a:ea typeface="DejaVu Sans"/>
              </a:rPr>
              <a:t>Python's design philosophy emphasizes </a:t>
            </a:r>
            <a:r>
              <a:rPr lang="en-US" sz="1800" b="1" strike="noStrike" spc="-1">
                <a:solidFill>
                  <a:srgbClr val="000000"/>
                </a:solidFill>
                <a:latin typeface="Arial"/>
                <a:ea typeface="DejaVu Sans"/>
              </a:rPr>
              <a:t>code readability </a:t>
            </a:r>
            <a:r>
              <a:rPr lang="en-US" sz="1800" b="0" strike="noStrike" spc="-1">
                <a:solidFill>
                  <a:srgbClr val="000000"/>
                </a:solidFill>
                <a:latin typeface="Arial"/>
                <a:ea typeface="DejaVu Sans"/>
              </a:rPr>
              <a:t>with its notable use of significant </a:t>
            </a:r>
            <a:r>
              <a:rPr lang="en-US" sz="1800" b="1" strike="noStrike" spc="-1">
                <a:solidFill>
                  <a:srgbClr val="000000"/>
                </a:solidFill>
                <a:latin typeface="Arial"/>
                <a:ea typeface="DejaVu Sans"/>
              </a:rPr>
              <a:t>whitespace</a:t>
            </a:r>
            <a:r>
              <a:rPr lang="en-US" sz="1800" b="0" strike="noStrike" spc="-1">
                <a:solidFill>
                  <a:srgbClr val="000000"/>
                </a:solidFill>
                <a:latin typeface="Arial"/>
                <a:ea typeface="DejaVu Sans"/>
              </a:rPr>
              <a:t>. Python is </a:t>
            </a:r>
            <a:r>
              <a:rPr lang="en-US" sz="1800" b="1" strike="noStrike" spc="-1">
                <a:solidFill>
                  <a:srgbClr val="000000"/>
                </a:solidFill>
                <a:latin typeface="Arial"/>
                <a:ea typeface="DejaVu Sans"/>
              </a:rPr>
              <a:t>dynamically typed</a:t>
            </a:r>
            <a:r>
              <a:rPr lang="en-US" sz="1800" b="0" strike="noStrike" spc="-1">
                <a:solidFill>
                  <a:srgbClr val="000000"/>
                </a:solidFill>
                <a:latin typeface="Arial"/>
                <a:ea typeface="DejaVu Sans"/>
              </a:rPr>
              <a:t> and </a:t>
            </a:r>
            <a:r>
              <a:rPr lang="en-US" sz="1800" b="1" strike="noStrike" spc="-1">
                <a:solidFill>
                  <a:srgbClr val="000000"/>
                </a:solidFill>
                <a:latin typeface="Arial"/>
                <a:ea typeface="DejaVu Sans"/>
              </a:rPr>
              <a:t>garbage-collected</a:t>
            </a:r>
            <a:r>
              <a:rPr lang="en-US" sz="1800" b="0" strike="noStrike" spc="-1">
                <a:solidFill>
                  <a:srgbClr val="000000"/>
                </a:solidFill>
                <a:latin typeface="Arial"/>
                <a:ea typeface="DejaVu Sans"/>
              </a:rPr>
              <a:t>.</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1" strike="noStrike" spc="-1">
                <a:solidFill>
                  <a:srgbClr val="000000"/>
                </a:solidFill>
                <a:latin typeface="Arial"/>
                <a:ea typeface="DejaVu Sans"/>
              </a:rPr>
              <a:t>Code readability: </a:t>
            </a:r>
            <a:r>
              <a:rPr lang="en-US" sz="1800" b="0" strike="noStrike" spc="-1">
                <a:solidFill>
                  <a:srgbClr val="000000"/>
                </a:solidFill>
                <a:latin typeface="Arial"/>
                <a:ea typeface="DejaVu Sans"/>
              </a:rPr>
              <a:t>refers to the ease with which a human reader can comprehend the purpose, control flow, and operation of source code. It affects the aspects of quality, including portability, usability and most importantly maintainability.</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1" strike="noStrike" spc="-1">
                <a:solidFill>
                  <a:srgbClr val="000000"/>
                </a:solidFill>
                <a:latin typeface="Arial"/>
                <a:ea typeface="DejaVu Sans"/>
              </a:rPr>
              <a:t>Whitespace:</a:t>
            </a:r>
            <a:r>
              <a:rPr lang="en-US" sz="1800" b="0" strike="noStrike" spc="-1">
                <a:solidFill>
                  <a:srgbClr val="000000"/>
                </a:solidFill>
                <a:latin typeface="Arial"/>
                <a:ea typeface="DejaVu Sans"/>
              </a:rPr>
              <a:t> refers to the usage of whitespace in typing code. In Python, the information about blocks are expressed by their indentation.</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1" strike="noStrike" spc="-1">
                <a:solidFill>
                  <a:srgbClr val="000000"/>
                </a:solidFill>
                <a:latin typeface="Arial"/>
                <a:ea typeface="DejaVu Sans"/>
              </a:rPr>
              <a:t>Dynamically Typed:</a:t>
            </a:r>
            <a:r>
              <a:rPr lang="en-US" sz="1800" b="0" strike="noStrike" spc="-1">
                <a:solidFill>
                  <a:srgbClr val="000000"/>
                </a:solidFill>
                <a:latin typeface="Arial"/>
                <a:ea typeface="DejaVu Sans"/>
              </a:rPr>
              <a:t> refers to languages execute many common programming behaviors at runtime that static programming languages perform during compilation. For us, this means defining variable types. </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1" strike="noStrike" spc="-1">
                <a:solidFill>
                  <a:srgbClr val="000000"/>
                </a:solidFill>
                <a:latin typeface="Arial"/>
                <a:ea typeface="DejaVu Sans"/>
              </a:rPr>
              <a:t>Garbage-Collected: </a:t>
            </a:r>
            <a:r>
              <a:rPr lang="en-US" sz="1800" b="0" strike="noStrike" spc="-1">
                <a:solidFill>
                  <a:srgbClr val="000000"/>
                </a:solidFill>
                <a:latin typeface="Arial"/>
                <a:ea typeface="DejaVu Sans"/>
              </a:rPr>
              <a:t>is a form of automatic memory management. The garbage collector attempts to reclaim garbage, or memory occupied by objects that are no longer in use by the program. </a:t>
            </a:r>
            <a:endParaRPr lang="en-US" sz="1800" b="0" strike="noStrike" spc="-1">
              <a:latin typeface="Arial"/>
            </a:endParaRPr>
          </a:p>
        </p:txBody>
      </p:sp>
      <p:sp>
        <p:nvSpPr>
          <p:cNvPr id="133" name="CustomShape 3"/>
          <p:cNvSpPr/>
          <p:nvPr/>
        </p:nvSpPr>
        <p:spPr>
          <a:xfrm>
            <a:off x="2413080" y="8795880"/>
            <a:ext cx="2120760" cy="3643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latin typeface="Arial"/>
                <a:ea typeface="DejaVu Sans"/>
              </a:rPr>
              <a:t>Guido van Rossum</a:t>
            </a:r>
            <a:endParaRPr lang="en-US" sz="1800" b="0" strike="noStrike" spc="-1">
              <a:latin typeface="Arial"/>
            </a:endParaRPr>
          </a:p>
        </p:txBody>
      </p:sp>
      <p:sp>
        <p:nvSpPr>
          <p:cNvPr id="2" name="Slide Number Placeholder 3">
            <a:extLst>
              <a:ext uri="{FF2B5EF4-FFF2-40B4-BE49-F238E27FC236}">
                <a16:creationId xmlns:a16="http://schemas.microsoft.com/office/drawing/2014/main" id="{411F81C4-C004-903E-7CDC-3820D38AC9D0}"/>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7</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ustomShape 1"/>
          <p:cNvSpPr/>
          <p:nvPr/>
        </p:nvSpPr>
        <p:spPr>
          <a:xfrm>
            <a:off x="825480" y="63972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a:solidFill>
                  <a:srgbClr val="000000"/>
                </a:solidFill>
                <a:latin typeface="Arial"/>
                <a:ea typeface="DejaVu Sans"/>
              </a:rPr>
              <a:t>Python is Free as in beer and Free as in speech</a:t>
            </a:r>
            <a:endParaRPr lang="en-US" sz="3000" b="0" strike="noStrike" spc="-1">
              <a:latin typeface="Arial"/>
            </a:endParaRPr>
          </a:p>
        </p:txBody>
      </p:sp>
      <p:pic>
        <p:nvPicPr>
          <p:cNvPr id="135" name="Picture 1"/>
          <p:cNvPicPr/>
          <p:nvPr/>
        </p:nvPicPr>
        <p:blipFill>
          <a:blip r:embed="rId3"/>
          <a:stretch/>
        </p:blipFill>
        <p:spPr>
          <a:xfrm rot="10800000">
            <a:off x="557280" y="5120640"/>
            <a:ext cx="10357920" cy="683280"/>
          </a:xfrm>
          <a:prstGeom prst="rect">
            <a:avLst/>
          </a:prstGeom>
          <a:ln>
            <a:noFill/>
          </a:ln>
        </p:spPr>
      </p:pic>
      <p:sp>
        <p:nvSpPr>
          <p:cNvPr id="136" name="CustomShape 2"/>
          <p:cNvSpPr/>
          <p:nvPr/>
        </p:nvSpPr>
        <p:spPr>
          <a:xfrm>
            <a:off x="516960" y="4714920"/>
            <a:ext cx="8859960" cy="6386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latin typeface="Arial"/>
                <a:ea typeface="DejaVu Sans"/>
              </a:rPr>
              <a:t>Free speech (First Amendment to the United States Constitution; December 15, 1791)</a:t>
            </a:r>
            <a:endParaRPr lang="en-US" sz="1800" b="0" strike="noStrike" spc="-1">
              <a:latin typeface="Arial"/>
            </a:endParaRPr>
          </a:p>
          <a:p>
            <a:pPr>
              <a:lnSpc>
                <a:spcPct val="100000"/>
              </a:lnSpc>
            </a:pPr>
            <a:endParaRPr lang="en-US" sz="1800" b="0" strike="noStrike" spc="-1">
              <a:latin typeface="Arial"/>
            </a:endParaRPr>
          </a:p>
        </p:txBody>
      </p:sp>
      <p:pic>
        <p:nvPicPr>
          <p:cNvPr id="137" name="Picture 3"/>
          <p:cNvPicPr/>
          <p:nvPr/>
        </p:nvPicPr>
        <p:blipFill>
          <a:blip r:embed="rId4"/>
          <a:stretch/>
        </p:blipFill>
        <p:spPr>
          <a:xfrm>
            <a:off x="556920" y="1869840"/>
            <a:ext cx="4271400" cy="2726640"/>
          </a:xfrm>
          <a:prstGeom prst="rect">
            <a:avLst/>
          </a:prstGeom>
          <a:ln>
            <a:noFill/>
          </a:ln>
        </p:spPr>
      </p:pic>
      <p:pic>
        <p:nvPicPr>
          <p:cNvPr id="138" name="Picture 4"/>
          <p:cNvPicPr/>
          <p:nvPr/>
        </p:nvPicPr>
        <p:blipFill>
          <a:blip r:embed="rId5"/>
          <a:stretch/>
        </p:blipFill>
        <p:spPr>
          <a:xfrm>
            <a:off x="5544720" y="1422720"/>
            <a:ext cx="5552280" cy="2612520"/>
          </a:xfrm>
          <a:prstGeom prst="rect">
            <a:avLst/>
          </a:prstGeom>
          <a:ln>
            <a:noFill/>
          </a:ln>
        </p:spPr>
      </p:pic>
      <p:sp>
        <p:nvSpPr>
          <p:cNvPr id="139" name="CustomShape 3"/>
          <p:cNvSpPr/>
          <p:nvPr/>
        </p:nvSpPr>
        <p:spPr>
          <a:xfrm>
            <a:off x="519120" y="1388520"/>
            <a:ext cx="1956240" cy="6386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latin typeface="Arial"/>
                <a:ea typeface="DejaVu Sans"/>
              </a:rPr>
              <a:t>Free beer (never)</a:t>
            </a:r>
            <a:endParaRPr lang="en-US" sz="1800" b="0" strike="noStrike" spc="-1">
              <a:latin typeface="Arial"/>
            </a:endParaRPr>
          </a:p>
          <a:p>
            <a:pPr>
              <a:lnSpc>
                <a:spcPct val="100000"/>
              </a:lnSpc>
            </a:pPr>
            <a:endParaRPr lang="en-US" sz="1800" b="0" strike="noStrike" spc="-1">
              <a:latin typeface="Arial"/>
            </a:endParaRPr>
          </a:p>
        </p:txBody>
      </p:sp>
      <p:pic>
        <p:nvPicPr>
          <p:cNvPr id="140" name="Picture 5"/>
          <p:cNvPicPr/>
          <p:nvPr/>
        </p:nvPicPr>
        <p:blipFill>
          <a:blip r:embed="rId6"/>
          <a:stretch/>
        </p:blipFill>
        <p:spPr>
          <a:xfrm>
            <a:off x="10076400" y="2786760"/>
            <a:ext cx="1256760" cy="1671120"/>
          </a:xfrm>
          <a:prstGeom prst="rect">
            <a:avLst/>
          </a:prstGeom>
          <a:ln>
            <a:noFill/>
          </a:ln>
        </p:spPr>
      </p:pic>
      <p:sp>
        <p:nvSpPr>
          <p:cNvPr id="2" name="Slide Number Placeholder 3">
            <a:extLst>
              <a:ext uri="{FF2B5EF4-FFF2-40B4-BE49-F238E27FC236}">
                <a16:creationId xmlns:a16="http://schemas.microsoft.com/office/drawing/2014/main" id="{C9ED1010-841F-FDF2-F8FF-8D0EAAAC34AC}"/>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8</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330120" y="32436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a:solidFill>
                  <a:srgbClr val="000000"/>
                </a:solidFill>
                <a:latin typeface="Arial"/>
                <a:ea typeface="DejaVu Sans"/>
              </a:rPr>
              <a:t>Python is a language, we use an ecosystem</a:t>
            </a:r>
            <a:endParaRPr lang="en-US" sz="3000" b="0" strike="noStrike" spc="-1">
              <a:latin typeface="Arial"/>
            </a:endParaRPr>
          </a:p>
        </p:txBody>
      </p:sp>
      <p:pic>
        <p:nvPicPr>
          <p:cNvPr id="142" name="Picture 1"/>
          <p:cNvPicPr/>
          <p:nvPr/>
        </p:nvPicPr>
        <p:blipFill>
          <a:blip r:embed="rId3"/>
          <a:stretch/>
        </p:blipFill>
        <p:spPr>
          <a:xfrm>
            <a:off x="558720" y="1157400"/>
            <a:ext cx="6617880" cy="4954680"/>
          </a:xfrm>
          <a:prstGeom prst="rect">
            <a:avLst/>
          </a:prstGeom>
          <a:ln>
            <a:noFill/>
          </a:ln>
        </p:spPr>
      </p:pic>
      <p:sp>
        <p:nvSpPr>
          <p:cNvPr id="143" name="CustomShape 2"/>
          <p:cNvSpPr/>
          <p:nvPr/>
        </p:nvSpPr>
        <p:spPr>
          <a:xfrm>
            <a:off x="7329600" y="897480"/>
            <a:ext cx="4345920" cy="501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dirty="0">
                <a:solidFill>
                  <a:srgbClr val="000000"/>
                </a:solidFill>
                <a:latin typeface="Arial"/>
                <a:ea typeface="DejaVu Sans"/>
              </a:rPr>
              <a:t>In this class we will focus on a limited subset of this ecosystem:</a:t>
            </a:r>
            <a:endParaRPr lang="en-US" sz="1800" b="0" strike="noStrike" spc="-1" dirty="0">
              <a:latin typeface="Arial"/>
            </a:endParaRPr>
          </a:p>
          <a:p>
            <a:pPr marL="457200" lvl="1" indent="-215640">
              <a:lnSpc>
                <a:spcPct val="100000"/>
              </a:lnSpc>
              <a:spcBef>
                <a:spcPts val="601"/>
              </a:spcBef>
              <a:buClr>
                <a:srgbClr val="000000"/>
              </a:buClr>
              <a:buFont typeface="Arial"/>
              <a:buChar char="•"/>
            </a:pPr>
            <a:r>
              <a:rPr lang="en-US" sz="1800" b="1" strike="noStrike" spc="-1" dirty="0" err="1">
                <a:solidFill>
                  <a:srgbClr val="000000"/>
                </a:solidFill>
                <a:latin typeface="Arial"/>
                <a:ea typeface="DejaVu Sans"/>
              </a:rPr>
              <a:t>IPython</a:t>
            </a:r>
            <a:r>
              <a:rPr lang="en-US" sz="1800" b="1" strike="noStrike" spc="-1" dirty="0">
                <a:solidFill>
                  <a:srgbClr val="000000"/>
                </a:solidFill>
                <a:latin typeface="Arial"/>
                <a:ea typeface="DejaVu Sans"/>
              </a:rPr>
              <a:t>: </a:t>
            </a:r>
            <a:r>
              <a:rPr lang="en-US" sz="1800" b="0" strike="noStrike" spc="-1" dirty="0">
                <a:solidFill>
                  <a:srgbClr val="000000"/>
                </a:solidFill>
                <a:latin typeface="Arial"/>
                <a:ea typeface="DejaVu Sans"/>
              </a:rPr>
              <a:t>command shell for interactive computing in Python.</a:t>
            </a:r>
            <a:endParaRPr lang="en-US" sz="1800" b="0" strike="noStrike" spc="-1" dirty="0">
              <a:latin typeface="Arial"/>
            </a:endParaRPr>
          </a:p>
          <a:p>
            <a:pPr marL="457200" lvl="1" indent="-215640">
              <a:lnSpc>
                <a:spcPct val="100000"/>
              </a:lnSpc>
              <a:spcBef>
                <a:spcPts val="601"/>
              </a:spcBef>
              <a:buClr>
                <a:srgbClr val="000000"/>
              </a:buClr>
              <a:buFont typeface="Arial"/>
              <a:buChar char="•"/>
            </a:pPr>
            <a:r>
              <a:rPr lang="en-US" sz="1800" b="1" strike="noStrike" spc="-1" dirty="0">
                <a:solidFill>
                  <a:srgbClr val="000000"/>
                </a:solidFill>
                <a:latin typeface="Arial"/>
                <a:ea typeface="DejaVu Sans"/>
              </a:rPr>
              <a:t>Spyder: </a:t>
            </a:r>
            <a:r>
              <a:rPr lang="en-US" sz="1800" b="0" strike="noStrike" spc="-1" dirty="0">
                <a:solidFill>
                  <a:srgbClr val="000000"/>
                </a:solidFill>
                <a:latin typeface="Arial"/>
                <a:ea typeface="DejaVu Sans"/>
              </a:rPr>
              <a:t>cross-platform integrated development environment (IDE) for scientific programming in Python.</a:t>
            </a:r>
            <a:endParaRPr lang="en-US" sz="1800" b="0" strike="noStrike" spc="-1" dirty="0">
              <a:latin typeface="Arial"/>
            </a:endParaRPr>
          </a:p>
          <a:p>
            <a:pPr marL="457200" lvl="1" indent="-215640">
              <a:lnSpc>
                <a:spcPct val="100000"/>
              </a:lnSpc>
              <a:spcBef>
                <a:spcPts val="601"/>
              </a:spcBef>
              <a:buClr>
                <a:srgbClr val="000000"/>
              </a:buClr>
              <a:buFont typeface="Arial"/>
              <a:buChar char="•"/>
            </a:pPr>
            <a:r>
              <a:rPr lang="en-US" sz="1800" b="1" strike="noStrike" spc="-1" dirty="0" err="1">
                <a:solidFill>
                  <a:srgbClr val="000000"/>
                </a:solidFill>
                <a:latin typeface="Arial"/>
                <a:ea typeface="DejaVu Sans"/>
              </a:rPr>
              <a:t>Numpy</a:t>
            </a:r>
            <a:r>
              <a:rPr lang="en-US" sz="1800" b="1" strike="noStrike" spc="-1" dirty="0">
                <a:solidFill>
                  <a:srgbClr val="000000"/>
                </a:solidFill>
                <a:latin typeface="Arial"/>
                <a:ea typeface="DejaVu Sans"/>
              </a:rPr>
              <a:t>:</a:t>
            </a:r>
            <a:r>
              <a:rPr lang="en-US" sz="1800" b="0" strike="noStrike" spc="-1" dirty="0">
                <a:solidFill>
                  <a:srgbClr val="000000"/>
                </a:solidFill>
                <a:latin typeface="Arial"/>
                <a:ea typeface="DejaVu Sans"/>
              </a:rPr>
              <a:t> library adding support for multi-dimensional arrays.</a:t>
            </a:r>
            <a:endParaRPr lang="en-US" sz="1800" b="0" strike="noStrike" spc="-1" dirty="0">
              <a:latin typeface="Arial"/>
            </a:endParaRPr>
          </a:p>
          <a:p>
            <a:pPr marL="457200" lvl="1" indent="-215640">
              <a:lnSpc>
                <a:spcPct val="100000"/>
              </a:lnSpc>
              <a:spcBef>
                <a:spcPts val="601"/>
              </a:spcBef>
              <a:buClr>
                <a:srgbClr val="000000"/>
              </a:buClr>
              <a:buFont typeface="Arial"/>
              <a:buChar char="•"/>
            </a:pPr>
            <a:r>
              <a:rPr lang="en-US" sz="1800" b="1" strike="noStrike" spc="-1" dirty="0">
                <a:solidFill>
                  <a:srgbClr val="000000"/>
                </a:solidFill>
                <a:latin typeface="Arial"/>
                <a:ea typeface="DejaVu Sans"/>
              </a:rPr>
              <a:t>SciPy:</a:t>
            </a:r>
            <a:r>
              <a:rPr lang="en-US" sz="1800" b="0" strike="noStrike" spc="-1" dirty="0">
                <a:solidFill>
                  <a:srgbClr val="000000"/>
                </a:solidFill>
                <a:latin typeface="Arial"/>
                <a:ea typeface="DejaVu Sans"/>
              </a:rPr>
              <a:t> library used for scientific computing and technical computing. </a:t>
            </a:r>
            <a:endParaRPr lang="en-US" sz="1800" b="0" strike="noStrike" spc="-1" dirty="0">
              <a:latin typeface="Arial"/>
            </a:endParaRPr>
          </a:p>
          <a:p>
            <a:pPr marL="457200" lvl="1" indent="-215640">
              <a:lnSpc>
                <a:spcPct val="100000"/>
              </a:lnSpc>
              <a:spcBef>
                <a:spcPts val="601"/>
              </a:spcBef>
              <a:buClr>
                <a:srgbClr val="000000"/>
              </a:buClr>
              <a:buFont typeface="Arial"/>
              <a:buChar char="•"/>
            </a:pPr>
            <a:r>
              <a:rPr lang="en-US" sz="1800" b="1" strike="noStrike" spc="-1" dirty="0">
                <a:solidFill>
                  <a:srgbClr val="000000"/>
                </a:solidFill>
                <a:latin typeface="Arial"/>
                <a:ea typeface="DejaVu Sans"/>
              </a:rPr>
              <a:t>matplotlib: </a:t>
            </a:r>
            <a:r>
              <a:rPr lang="en-US" sz="1800" b="0" strike="noStrike" spc="-1" dirty="0">
                <a:solidFill>
                  <a:srgbClr val="000000"/>
                </a:solidFill>
                <a:latin typeface="Arial"/>
                <a:ea typeface="DejaVu Sans"/>
              </a:rPr>
              <a:t>API focused on plotting </a:t>
            </a:r>
            <a:endParaRPr lang="en-US" sz="1800" b="0" strike="noStrike" spc="-1" dirty="0">
              <a:latin typeface="Arial"/>
            </a:endParaRPr>
          </a:p>
          <a:p>
            <a:pPr marL="457200" lvl="1" indent="-215640">
              <a:lnSpc>
                <a:spcPct val="100000"/>
              </a:lnSpc>
              <a:spcBef>
                <a:spcPts val="601"/>
              </a:spcBef>
              <a:buClr>
                <a:srgbClr val="000000"/>
              </a:buClr>
              <a:buFont typeface="Arial"/>
              <a:buChar char="•"/>
            </a:pPr>
            <a:r>
              <a:rPr lang="en-US" sz="1800" b="1" strike="noStrike" spc="-1" dirty="0">
                <a:solidFill>
                  <a:srgbClr val="000000"/>
                </a:solidFill>
                <a:latin typeface="Arial"/>
                <a:ea typeface="DejaVu Sans"/>
              </a:rPr>
              <a:t>scikit-learn:</a:t>
            </a:r>
            <a:r>
              <a:rPr lang="en-US" sz="1800" b="0" strike="noStrike" spc="-1" dirty="0">
                <a:solidFill>
                  <a:srgbClr val="000000"/>
                </a:solidFill>
                <a:latin typeface="Arial"/>
                <a:ea typeface="DejaVu Sans"/>
              </a:rPr>
              <a:t> library for machine learning.</a:t>
            </a:r>
            <a:endParaRPr lang="en-US" sz="1800" b="0" strike="noStrike" spc="-1" dirty="0">
              <a:latin typeface="Arial"/>
            </a:endParaRPr>
          </a:p>
          <a:p>
            <a:pPr marL="457200" lvl="1" indent="-215640">
              <a:lnSpc>
                <a:spcPct val="100000"/>
              </a:lnSpc>
              <a:spcBef>
                <a:spcPts val="601"/>
              </a:spcBef>
              <a:buClr>
                <a:srgbClr val="000000"/>
              </a:buClr>
              <a:buFont typeface="Arial"/>
              <a:buChar char="•"/>
            </a:pPr>
            <a:r>
              <a:rPr lang="en-US" sz="1800" b="1" strike="noStrike" spc="-1" dirty="0">
                <a:solidFill>
                  <a:srgbClr val="000000"/>
                </a:solidFill>
                <a:latin typeface="Arial"/>
                <a:ea typeface="DejaVu Sans"/>
              </a:rPr>
              <a:t>TensorFlow:</a:t>
            </a:r>
            <a:r>
              <a:rPr lang="en-US" sz="1800" b="0" strike="noStrike" spc="-1" dirty="0">
                <a:solidFill>
                  <a:srgbClr val="000000"/>
                </a:solidFill>
                <a:latin typeface="Arial"/>
                <a:ea typeface="DejaVu Sans"/>
              </a:rPr>
              <a:t> symbolic math library, used for neural networks.</a:t>
            </a:r>
            <a:endParaRPr lang="en-US" sz="1800" b="0" strike="noStrike" spc="-1" dirty="0">
              <a:latin typeface="Arial"/>
            </a:endParaRPr>
          </a:p>
        </p:txBody>
      </p:sp>
      <p:sp>
        <p:nvSpPr>
          <p:cNvPr id="2" name="Slide Number Placeholder 3">
            <a:extLst>
              <a:ext uri="{FF2B5EF4-FFF2-40B4-BE49-F238E27FC236}">
                <a16:creationId xmlns:a16="http://schemas.microsoft.com/office/drawing/2014/main" id="{CB467D1E-8398-29F3-8E04-C7EC0944C772}"/>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9</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1"/>
          <p:cNvSpPr/>
          <p:nvPr/>
        </p:nvSpPr>
        <p:spPr>
          <a:xfrm>
            <a:off x="825480" y="63972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a:solidFill>
                  <a:srgbClr val="000000"/>
                </a:solidFill>
                <a:latin typeface="Arial"/>
                <a:ea typeface="DejaVu Sans"/>
              </a:rPr>
              <a:t>Python Distributions</a:t>
            </a:r>
            <a:endParaRPr lang="en-US" sz="3000" b="0" strike="noStrike" spc="-1">
              <a:latin typeface="Arial"/>
            </a:endParaRPr>
          </a:p>
        </p:txBody>
      </p:sp>
      <p:sp>
        <p:nvSpPr>
          <p:cNvPr id="145" name="CustomShape 2"/>
          <p:cNvSpPr/>
          <p:nvPr/>
        </p:nvSpPr>
        <p:spPr>
          <a:xfrm>
            <a:off x="858240" y="1270800"/>
            <a:ext cx="11120040" cy="118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dirty="0">
                <a:solidFill>
                  <a:srgbClr val="000000"/>
                </a:solidFill>
                <a:latin typeface="Arial"/>
                <a:ea typeface="DejaVu Sans"/>
              </a:rPr>
              <a:t>A distribution is a group of packages that are assembled and more-or-less work well together. Some of these are free (beer/speech) while for others there are required service packs for their use. In </a:t>
            </a:r>
            <a:r>
              <a:rPr lang="en-US" sz="1800" b="0" strike="noStrike" spc="-1">
                <a:solidFill>
                  <a:srgbClr val="000000"/>
                </a:solidFill>
                <a:latin typeface="Arial"/>
                <a:ea typeface="DejaVu Sans"/>
              </a:rPr>
              <a:t>this class, </a:t>
            </a:r>
            <a:r>
              <a:rPr lang="en-US" sz="1800" b="0" strike="noStrike" spc="-1" dirty="0">
                <a:solidFill>
                  <a:srgbClr val="000000"/>
                </a:solidFill>
                <a:latin typeface="Arial"/>
                <a:ea typeface="DejaVu Sans"/>
              </a:rPr>
              <a:t>we will use Anaconda from Anaconda, Inc. Anaconda is a free and open-source distribution for scientific computing.</a:t>
            </a:r>
            <a:endParaRPr lang="en-US" sz="1800" b="0" strike="noStrike" spc="-1" dirty="0">
              <a:latin typeface="Arial"/>
            </a:endParaRPr>
          </a:p>
        </p:txBody>
      </p:sp>
      <p:pic>
        <p:nvPicPr>
          <p:cNvPr id="146" name="Picture 1"/>
          <p:cNvPicPr/>
          <p:nvPr/>
        </p:nvPicPr>
        <p:blipFill>
          <a:blip r:embed="rId3"/>
          <a:srcRect l="12056" t="30990" r="12333" b="29995"/>
          <a:stretch/>
        </p:blipFill>
        <p:spPr>
          <a:xfrm>
            <a:off x="825480" y="2629800"/>
            <a:ext cx="3267720" cy="1685160"/>
          </a:xfrm>
          <a:prstGeom prst="rect">
            <a:avLst/>
          </a:prstGeom>
          <a:ln>
            <a:noFill/>
          </a:ln>
        </p:spPr>
      </p:pic>
      <p:pic>
        <p:nvPicPr>
          <p:cNvPr id="147" name="Picture 3"/>
          <p:cNvPicPr/>
          <p:nvPr/>
        </p:nvPicPr>
        <p:blipFill>
          <a:blip r:embed="rId4"/>
          <a:stretch/>
        </p:blipFill>
        <p:spPr>
          <a:xfrm>
            <a:off x="4779720" y="2560320"/>
            <a:ext cx="3028320" cy="1504080"/>
          </a:xfrm>
          <a:prstGeom prst="rect">
            <a:avLst/>
          </a:prstGeom>
          <a:ln>
            <a:noFill/>
          </a:ln>
        </p:spPr>
      </p:pic>
      <p:pic>
        <p:nvPicPr>
          <p:cNvPr id="148" name="Picture 5"/>
          <p:cNvPicPr/>
          <p:nvPr/>
        </p:nvPicPr>
        <p:blipFill>
          <a:blip r:embed="rId5"/>
          <a:stretch/>
        </p:blipFill>
        <p:spPr>
          <a:xfrm>
            <a:off x="9401040" y="2472480"/>
            <a:ext cx="1466280" cy="1532880"/>
          </a:xfrm>
          <a:prstGeom prst="rect">
            <a:avLst/>
          </a:prstGeom>
          <a:ln>
            <a:noFill/>
          </a:ln>
        </p:spPr>
      </p:pic>
      <p:pic>
        <p:nvPicPr>
          <p:cNvPr id="149" name="Picture 6"/>
          <p:cNvPicPr/>
          <p:nvPr/>
        </p:nvPicPr>
        <p:blipFill>
          <a:blip r:embed="rId6"/>
          <a:srcRect t="16176" b="24076"/>
          <a:stretch/>
        </p:blipFill>
        <p:spPr>
          <a:xfrm>
            <a:off x="858240" y="4315320"/>
            <a:ext cx="6827760" cy="2062440"/>
          </a:xfrm>
          <a:prstGeom prst="rect">
            <a:avLst/>
          </a:prstGeom>
          <a:ln>
            <a:noFill/>
          </a:ln>
        </p:spPr>
      </p:pic>
      <p:sp>
        <p:nvSpPr>
          <p:cNvPr id="2" name="Slide Number Placeholder 3">
            <a:extLst>
              <a:ext uri="{FF2B5EF4-FFF2-40B4-BE49-F238E27FC236}">
                <a16:creationId xmlns:a16="http://schemas.microsoft.com/office/drawing/2014/main" id="{77F108E7-A56D-1529-FC00-A85C94FF2FED}"/>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10</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CustomShape 1"/>
          <p:cNvSpPr/>
          <p:nvPr/>
        </p:nvSpPr>
        <p:spPr>
          <a:xfrm>
            <a:off x="451650" y="486939"/>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dirty="0">
                <a:solidFill>
                  <a:srgbClr val="000000"/>
                </a:solidFill>
                <a:latin typeface="Arial"/>
                <a:ea typeface="DejaVu Sans"/>
              </a:rPr>
              <a:t>Example #1 – Plot beam vibration data in Python</a:t>
            </a:r>
            <a:endParaRPr lang="en-US" sz="3000" b="0" strike="noStrike" spc="-1" dirty="0">
              <a:latin typeface="Arial"/>
            </a:endParaRPr>
          </a:p>
        </p:txBody>
      </p:sp>
      <p:pic>
        <p:nvPicPr>
          <p:cNvPr id="3" name="Picture 2">
            <a:extLst>
              <a:ext uri="{FF2B5EF4-FFF2-40B4-BE49-F238E27FC236}">
                <a16:creationId xmlns:a16="http://schemas.microsoft.com/office/drawing/2014/main" id="{CB924FAF-9E72-4A74-BC9B-FEA52F8EE9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650" y="1719593"/>
            <a:ext cx="8549834" cy="3614741"/>
          </a:xfrm>
          <a:prstGeom prst="rect">
            <a:avLst/>
          </a:prstGeom>
        </p:spPr>
      </p:pic>
      <p:pic>
        <p:nvPicPr>
          <p:cNvPr id="1026" name="Picture 2" descr="drawing">
            <a:extLst>
              <a:ext uri="{FF2B5EF4-FFF2-40B4-BE49-F238E27FC236}">
                <a16:creationId xmlns:a16="http://schemas.microsoft.com/office/drawing/2014/main" id="{78D552AF-6E4F-13F7-3662-DDDDED900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4975" y="2311323"/>
            <a:ext cx="2431279" cy="24312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7356CA6-EF63-0AED-CDA6-CE35F077385C}"/>
              </a:ext>
            </a:extLst>
          </p:cNvPr>
          <p:cNvSpPr txBox="1"/>
          <p:nvPr/>
        </p:nvSpPr>
        <p:spPr>
          <a:xfrm>
            <a:off x="1857997" y="5751963"/>
            <a:ext cx="8487398" cy="369332"/>
          </a:xfrm>
          <a:prstGeom prst="rect">
            <a:avLst/>
          </a:prstGeom>
          <a:noFill/>
        </p:spPr>
        <p:txBody>
          <a:bodyPr wrap="square">
            <a:spAutoFit/>
          </a:bodyPr>
          <a:lstStyle/>
          <a:p>
            <a:pPr algn="ctr"/>
            <a:r>
              <a:rPr lang="en-US" dirty="0">
                <a:hlinkClick r:id="rId5"/>
              </a:rPr>
              <a:t>https://github.com/ARTS-Laboratory/dataset-free-vibration-of-cantilever-beam</a:t>
            </a:r>
            <a:r>
              <a:rPr lang="en-US" dirty="0"/>
              <a:t> </a:t>
            </a:r>
          </a:p>
        </p:txBody>
      </p:sp>
      <p:sp>
        <p:nvSpPr>
          <p:cNvPr id="5" name="Slide Number Placeholder 3">
            <a:extLst>
              <a:ext uri="{FF2B5EF4-FFF2-40B4-BE49-F238E27FC236}">
                <a16:creationId xmlns:a16="http://schemas.microsoft.com/office/drawing/2014/main" id="{C96464E7-62E6-272C-D203-29A2208CAF79}"/>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11</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1"/>
          <p:cNvSpPr/>
          <p:nvPr/>
        </p:nvSpPr>
        <p:spPr>
          <a:xfrm>
            <a:off x="8858160" y="5872320"/>
            <a:ext cx="2918160" cy="542160"/>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3" name="CustomShape 2"/>
          <p:cNvSpPr/>
          <p:nvPr/>
        </p:nvSpPr>
        <p:spPr>
          <a:xfrm>
            <a:off x="414720" y="341640"/>
            <a:ext cx="1984680" cy="82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90000"/>
              </a:lnSpc>
              <a:spcBef>
                <a:spcPts val="1001"/>
              </a:spcBef>
            </a:pPr>
            <a:endParaRPr lang="en-US" sz="1800" b="0" strike="noStrike" spc="-1">
              <a:latin typeface="Arial"/>
            </a:endParaRPr>
          </a:p>
          <a:p>
            <a:pPr>
              <a:lnSpc>
                <a:spcPct val="100000"/>
              </a:lnSpc>
            </a:pPr>
            <a:r>
              <a:rPr lang="en-US" sz="4400" b="0" strike="noStrike" spc="-1">
                <a:solidFill>
                  <a:srgbClr val="000000"/>
                </a:solidFill>
                <a:latin typeface="Arial"/>
                <a:ea typeface="DejaVu Sans"/>
              </a:rPr>
              <a:t>Python</a:t>
            </a:r>
            <a:endParaRPr lang="en-US" sz="4400" b="0" strike="noStrike" spc="-1">
              <a:latin typeface="Arial"/>
            </a:endParaRPr>
          </a:p>
        </p:txBody>
      </p:sp>
      <p:pic>
        <p:nvPicPr>
          <p:cNvPr id="164" name="Picture 2"/>
          <p:cNvPicPr/>
          <p:nvPr/>
        </p:nvPicPr>
        <p:blipFill>
          <a:blip r:embed="rId3"/>
          <a:srcRect t="14324" b="17237"/>
          <a:stretch/>
        </p:blipFill>
        <p:spPr>
          <a:xfrm>
            <a:off x="5336640" y="443160"/>
            <a:ext cx="6240600" cy="6043680"/>
          </a:xfrm>
          <a:prstGeom prst="rect">
            <a:avLst/>
          </a:prstGeom>
          <a:ln>
            <a:noFill/>
          </a:ln>
        </p:spPr>
      </p:pic>
      <p:sp>
        <p:nvSpPr>
          <p:cNvPr id="165" name="CustomShape 3"/>
          <p:cNvSpPr/>
          <p:nvPr/>
        </p:nvSpPr>
        <p:spPr>
          <a:xfrm>
            <a:off x="614520" y="1421640"/>
            <a:ext cx="2903040" cy="4572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a:solidFill>
                  <a:srgbClr val="000000"/>
                </a:solidFill>
                <a:latin typeface="Arial"/>
                <a:ea typeface="DejaVu Sans"/>
              </a:rPr>
              <a:t>Key types in Python are:</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Numbers:</a:t>
            </a:r>
            <a:endParaRPr lang="en-US" sz="1800" b="0" strike="noStrike" spc="-1">
              <a:latin typeface="Arial"/>
            </a:endParaRPr>
          </a:p>
          <a:p>
            <a:pPr marL="914400" lvl="2"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Integer</a:t>
            </a:r>
            <a:endParaRPr lang="en-US" sz="1800" b="0" strike="noStrike" spc="-1">
              <a:latin typeface="Arial"/>
            </a:endParaRPr>
          </a:p>
          <a:p>
            <a:pPr marL="914400" lvl="2"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Booleans</a:t>
            </a:r>
            <a:endParaRPr lang="en-US" sz="1800" b="0" strike="noStrike" spc="-1">
              <a:latin typeface="Arial"/>
            </a:endParaRPr>
          </a:p>
          <a:p>
            <a:pPr marL="914400" lvl="2"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Real </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Sequences:</a:t>
            </a:r>
            <a:endParaRPr lang="en-US" sz="1800" b="0" strike="noStrike" spc="-1">
              <a:latin typeface="Arial"/>
            </a:endParaRPr>
          </a:p>
          <a:p>
            <a:pPr marL="914400" lvl="2"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Strings ‘’ or “”</a:t>
            </a:r>
            <a:endParaRPr lang="en-US" sz="1800" b="0" strike="noStrike" spc="-1">
              <a:latin typeface="Arial"/>
            </a:endParaRPr>
          </a:p>
          <a:p>
            <a:pPr marL="914400" lvl="2"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Lists [ ]</a:t>
            </a:r>
            <a:endParaRPr lang="en-US" sz="1800" b="0" strike="noStrike" spc="-1">
              <a:latin typeface="Arial"/>
            </a:endParaRPr>
          </a:p>
          <a:p>
            <a:pPr marL="914400" lvl="2"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Tuples ( )</a:t>
            </a:r>
            <a:endParaRPr lang="en-US" sz="1800" b="0" strike="noStrike" spc="-1">
              <a:latin typeface="Arial"/>
            </a:endParaRPr>
          </a:p>
          <a:p>
            <a:pPr marL="457200" lvl="1"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Mappings</a:t>
            </a:r>
            <a:endParaRPr lang="en-US" sz="1800" b="0" strike="noStrike" spc="-1">
              <a:latin typeface="Arial"/>
            </a:endParaRPr>
          </a:p>
          <a:p>
            <a:pPr marL="914400" lvl="2" indent="-215640">
              <a:lnSpc>
                <a:spcPct val="100000"/>
              </a:lnSpc>
              <a:spcBef>
                <a:spcPts val="601"/>
              </a:spcBef>
              <a:buClr>
                <a:srgbClr val="000000"/>
              </a:buClr>
              <a:buFont typeface="Arial"/>
              <a:buChar char="•"/>
            </a:pPr>
            <a:r>
              <a:rPr lang="en-US" sz="1800" b="0" strike="noStrike" spc="-1">
                <a:solidFill>
                  <a:srgbClr val="000000"/>
                </a:solidFill>
                <a:latin typeface="Arial"/>
                <a:ea typeface="DejaVu Sans"/>
              </a:rPr>
              <a:t>Dictionaries { }</a:t>
            </a:r>
            <a:endParaRPr lang="en-US" sz="1800" b="0" strike="noStrike" spc="-1">
              <a:latin typeface="Arial"/>
            </a:endParaRPr>
          </a:p>
        </p:txBody>
      </p:sp>
      <p:sp>
        <p:nvSpPr>
          <p:cNvPr id="2" name="Slide Number Placeholder 3">
            <a:extLst>
              <a:ext uri="{FF2B5EF4-FFF2-40B4-BE49-F238E27FC236}">
                <a16:creationId xmlns:a16="http://schemas.microsoft.com/office/drawing/2014/main" id="{B758E5B8-B83A-1159-22BC-F6807A64537D}"/>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12</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CustomShape 1"/>
          <p:cNvSpPr/>
          <p:nvPr/>
        </p:nvSpPr>
        <p:spPr>
          <a:xfrm>
            <a:off x="451650" y="486939"/>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dirty="0">
                <a:solidFill>
                  <a:srgbClr val="000000"/>
                </a:solidFill>
                <a:latin typeface="Arial"/>
                <a:ea typeface="DejaVu Sans"/>
              </a:rPr>
              <a:t>Example #2 – Pure Python</a:t>
            </a:r>
            <a:endParaRPr lang="en-US" sz="3000" b="0" strike="noStrike" spc="-1" dirty="0">
              <a:latin typeface="Arial"/>
            </a:endParaRPr>
          </a:p>
        </p:txBody>
      </p:sp>
      <p:pic>
        <p:nvPicPr>
          <p:cNvPr id="4" name="Graphic 6">
            <a:extLst>
              <a:ext uri="{FF2B5EF4-FFF2-40B4-BE49-F238E27FC236}">
                <a16:creationId xmlns:a16="http://schemas.microsoft.com/office/drawing/2014/main" id="{2A76B63D-EBA4-4DDC-B587-86D87BEBA4E1}"/>
              </a:ext>
            </a:extLst>
          </p:cNvPr>
          <p:cNvPicPr/>
          <p:nvPr/>
        </p:nvPicPr>
        <p:blipFill>
          <a:blip r:embed="rId3"/>
          <a:stretch/>
        </p:blipFill>
        <p:spPr>
          <a:xfrm>
            <a:off x="3718671" y="1299770"/>
            <a:ext cx="4754657" cy="4754657"/>
          </a:xfrm>
          <a:prstGeom prst="rect">
            <a:avLst/>
          </a:prstGeom>
          <a:ln>
            <a:noFill/>
          </a:ln>
        </p:spPr>
      </p:pic>
      <p:sp>
        <p:nvSpPr>
          <p:cNvPr id="2" name="Slide Number Placeholder 3">
            <a:extLst>
              <a:ext uri="{FF2B5EF4-FFF2-40B4-BE49-F238E27FC236}">
                <a16:creationId xmlns:a16="http://schemas.microsoft.com/office/drawing/2014/main" id="{03010D03-6B56-7881-2255-2EBEEE35F925}"/>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13</a:t>
            </a:fld>
            <a:endParaRPr lang="en-US"/>
          </a:p>
        </p:txBody>
      </p:sp>
    </p:spTree>
    <p:extLst>
      <p:ext uri="{BB962C8B-B14F-4D97-AF65-F5344CB8AC3E}">
        <p14:creationId xmlns:p14="http://schemas.microsoft.com/office/powerpoint/2010/main" val="156978298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
          <p:cNvSpPr/>
          <p:nvPr/>
        </p:nvSpPr>
        <p:spPr>
          <a:xfrm>
            <a:off x="8858160" y="5872320"/>
            <a:ext cx="2918160" cy="542160"/>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67" name="CustomShape 2"/>
          <p:cNvSpPr/>
          <p:nvPr/>
        </p:nvSpPr>
        <p:spPr>
          <a:xfrm>
            <a:off x="414720" y="341640"/>
            <a:ext cx="9287640" cy="82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90000"/>
              </a:lnSpc>
              <a:spcBef>
                <a:spcPts val="1001"/>
              </a:spcBef>
            </a:pPr>
            <a:endParaRPr lang="en-US" sz="1800" b="0" strike="noStrike" spc="-1">
              <a:latin typeface="Arial"/>
            </a:endParaRPr>
          </a:p>
          <a:p>
            <a:pPr>
              <a:lnSpc>
                <a:spcPct val="100000"/>
              </a:lnSpc>
            </a:pPr>
            <a:r>
              <a:rPr lang="en-US" sz="4400" b="0" strike="noStrike" spc="-1">
                <a:solidFill>
                  <a:srgbClr val="000000"/>
                </a:solidFill>
                <a:latin typeface="Arial"/>
                <a:ea typeface="DejaVu Sans"/>
              </a:rPr>
              <a:t>Additional Python Resources</a:t>
            </a:r>
            <a:endParaRPr lang="en-US" sz="4400" b="0" strike="noStrike" spc="-1">
              <a:latin typeface="Arial"/>
            </a:endParaRPr>
          </a:p>
        </p:txBody>
      </p:sp>
      <p:pic>
        <p:nvPicPr>
          <p:cNvPr id="168" name="Picture 2"/>
          <p:cNvPicPr/>
          <p:nvPr/>
        </p:nvPicPr>
        <p:blipFill>
          <a:blip r:embed="rId3"/>
          <a:stretch/>
        </p:blipFill>
        <p:spPr>
          <a:xfrm>
            <a:off x="5810040" y="2448000"/>
            <a:ext cx="6095520" cy="2935800"/>
          </a:xfrm>
          <a:prstGeom prst="rect">
            <a:avLst/>
          </a:prstGeom>
          <a:ln>
            <a:noFill/>
          </a:ln>
        </p:spPr>
      </p:pic>
      <p:sp>
        <p:nvSpPr>
          <p:cNvPr id="169" name="CustomShape 3"/>
          <p:cNvSpPr/>
          <p:nvPr/>
        </p:nvSpPr>
        <p:spPr>
          <a:xfrm>
            <a:off x="5810040" y="1473840"/>
            <a:ext cx="6557400" cy="76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a:solidFill>
                  <a:srgbClr val="000000"/>
                </a:solidFill>
                <a:latin typeface="Arial"/>
                <a:ea typeface="DejaVu Sans"/>
              </a:rPr>
              <a:t>YouTube : “Python Programming” by Derek Banas</a:t>
            </a:r>
            <a:endParaRPr lang="en-US" sz="1800" b="0" strike="noStrike" spc="-1">
              <a:latin typeface="Arial"/>
            </a:endParaRPr>
          </a:p>
          <a:p>
            <a:pPr>
              <a:lnSpc>
                <a:spcPct val="100000"/>
              </a:lnSpc>
              <a:spcBef>
                <a:spcPts val="601"/>
              </a:spcBef>
            </a:pPr>
            <a:r>
              <a:rPr lang="en-US" sz="1800" b="0" u="sng" strike="noStrike" spc="-1">
                <a:solidFill>
                  <a:srgbClr val="0000FF"/>
                </a:solidFill>
                <a:uFillTx/>
                <a:latin typeface="Arial"/>
                <a:ea typeface="DejaVu Sans"/>
                <a:hlinkClick r:id="rId4"/>
              </a:rPr>
              <a:t>https://www.youtube.com/watch?v=N4mEzFDjqtA</a:t>
            </a:r>
            <a:endParaRPr lang="en-US" sz="1800" b="0" strike="noStrike" spc="-1">
              <a:latin typeface="Arial"/>
            </a:endParaRPr>
          </a:p>
          <a:p>
            <a:pPr>
              <a:lnSpc>
                <a:spcPct val="100000"/>
              </a:lnSpc>
              <a:spcBef>
                <a:spcPts val="601"/>
              </a:spcBef>
            </a:pPr>
            <a:r>
              <a:rPr lang="en-US" sz="1800" b="0" strike="noStrike" spc="-1">
                <a:solidFill>
                  <a:srgbClr val="000000"/>
                </a:solidFill>
                <a:latin typeface="Arial"/>
                <a:ea typeface="DejaVu Sans"/>
              </a:rPr>
              <a:t> </a:t>
            </a:r>
            <a:endParaRPr lang="en-US" sz="1800" b="0" strike="noStrike" spc="-1">
              <a:latin typeface="Arial"/>
            </a:endParaRPr>
          </a:p>
          <a:p>
            <a:pPr>
              <a:lnSpc>
                <a:spcPct val="100000"/>
              </a:lnSpc>
              <a:spcBef>
                <a:spcPts val="601"/>
              </a:spcBef>
            </a:pPr>
            <a:endParaRPr lang="en-US" sz="1800" b="0" strike="noStrike" spc="-1">
              <a:latin typeface="Arial"/>
            </a:endParaRPr>
          </a:p>
        </p:txBody>
      </p:sp>
      <p:sp>
        <p:nvSpPr>
          <p:cNvPr id="170" name="CustomShape 4"/>
          <p:cNvSpPr/>
          <p:nvPr/>
        </p:nvSpPr>
        <p:spPr>
          <a:xfrm>
            <a:off x="414720" y="1473840"/>
            <a:ext cx="6557400" cy="76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a:solidFill>
                  <a:srgbClr val="000000"/>
                </a:solidFill>
                <a:latin typeface="Arial"/>
                <a:ea typeface="DejaVu Sans"/>
              </a:rPr>
              <a:t>Python documentation </a:t>
            </a:r>
            <a:endParaRPr lang="en-US" sz="1800" b="0" strike="noStrike" spc="-1">
              <a:latin typeface="Arial"/>
            </a:endParaRPr>
          </a:p>
          <a:p>
            <a:pPr>
              <a:lnSpc>
                <a:spcPct val="100000"/>
              </a:lnSpc>
              <a:spcBef>
                <a:spcPts val="601"/>
              </a:spcBef>
            </a:pPr>
            <a:r>
              <a:rPr lang="en-US" sz="1800" b="0" strike="noStrike" spc="-1">
                <a:solidFill>
                  <a:srgbClr val="000000"/>
                </a:solidFill>
                <a:latin typeface="Arial"/>
                <a:ea typeface="DejaVu Sans"/>
              </a:rPr>
              <a:t> </a:t>
            </a:r>
            <a:r>
              <a:rPr lang="en-US" sz="1800" b="0" u="sng" strike="noStrike" spc="-1">
                <a:solidFill>
                  <a:srgbClr val="0000FF"/>
                </a:solidFill>
                <a:uFillTx/>
                <a:latin typeface="Arial"/>
                <a:ea typeface="DejaVu Sans"/>
                <a:hlinkClick r:id="rId5"/>
              </a:rPr>
              <a:t>https://docs.python.org/3.8/</a:t>
            </a:r>
            <a:endParaRPr lang="en-US" sz="1800" b="0" strike="noStrike" spc="-1">
              <a:latin typeface="Arial"/>
            </a:endParaRPr>
          </a:p>
          <a:p>
            <a:pPr>
              <a:lnSpc>
                <a:spcPct val="100000"/>
              </a:lnSpc>
              <a:spcBef>
                <a:spcPts val="601"/>
              </a:spcBef>
            </a:pPr>
            <a:endParaRPr lang="en-US" sz="1800" b="0" strike="noStrike" spc="-1">
              <a:latin typeface="Arial"/>
            </a:endParaRPr>
          </a:p>
          <a:p>
            <a:pPr>
              <a:lnSpc>
                <a:spcPct val="100000"/>
              </a:lnSpc>
              <a:spcBef>
                <a:spcPts val="601"/>
              </a:spcBef>
            </a:pPr>
            <a:endParaRPr lang="en-US" sz="1800" b="0" strike="noStrike" spc="-1">
              <a:latin typeface="Arial"/>
            </a:endParaRPr>
          </a:p>
        </p:txBody>
      </p:sp>
      <p:pic>
        <p:nvPicPr>
          <p:cNvPr id="171" name="Picture 8"/>
          <p:cNvPicPr/>
          <p:nvPr/>
        </p:nvPicPr>
        <p:blipFill>
          <a:blip r:embed="rId6"/>
          <a:srcRect b="28756"/>
          <a:stretch/>
        </p:blipFill>
        <p:spPr>
          <a:xfrm>
            <a:off x="414720" y="2357280"/>
            <a:ext cx="5058720" cy="3117240"/>
          </a:xfrm>
          <a:prstGeom prst="rect">
            <a:avLst/>
          </a:prstGeom>
          <a:ln>
            <a:noFill/>
          </a:ln>
        </p:spPr>
      </p:pic>
      <p:sp>
        <p:nvSpPr>
          <p:cNvPr id="172" name="CustomShape 5"/>
          <p:cNvSpPr/>
          <p:nvPr/>
        </p:nvSpPr>
        <p:spPr>
          <a:xfrm>
            <a:off x="414720" y="5872320"/>
            <a:ext cx="6557400" cy="54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r>
              <a:rPr lang="en-US" sz="1800" b="0" strike="noStrike" spc="-1">
                <a:solidFill>
                  <a:srgbClr val="000000"/>
                </a:solidFill>
                <a:latin typeface="Arial"/>
                <a:ea typeface="DejaVu Sans"/>
              </a:rPr>
              <a:t>And many many more…………………… </a:t>
            </a:r>
            <a:endParaRPr lang="en-US" sz="1800" b="0" strike="noStrike" spc="-1">
              <a:latin typeface="Arial"/>
            </a:endParaRPr>
          </a:p>
          <a:p>
            <a:pPr>
              <a:lnSpc>
                <a:spcPct val="100000"/>
              </a:lnSpc>
              <a:spcBef>
                <a:spcPts val="601"/>
              </a:spcBef>
            </a:pPr>
            <a:endParaRPr lang="en-US" sz="1800" b="0" strike="noStrike" spc="-1">
              <a:latin typeface="Arial"/>
            </a:endParaRPr>
          </a:p>
        </p:txBody>
      </p:sp>
      <p:sp>
        <p:nvSpPr>
          <p:cNvPr id="2" name="Slide Number Placeholder 3">
            <a:extLst>
              <a:ext uri="{FF2B5EF4-FFF2-40B4-BE49-F238E27FC236}">
                <a16:creationId xmlns:a16="http://schemas.microsoft.com/office/drawing/2014/main" id="{C6D31B27-2FB7-4F22-71AC-524A0D7200E1}"/>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14</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a:off x="363240" y="35568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a:solidFill>
                  <a:srgbClr val="000000"/>
                </a:solidFill>
                <a:latin typeface="Arial"/>
                <a:ea typeface="DejaVu Sans"/>
              </a:rPr>
              <a:t>Our Ministack </a:t>
            </a:r>
            <a:endParaRPr lang="en-US" sz="3000" b="0" strike="noStrike" spc="-1">
              <a:latin typeface="Arial"/>
            </a:endParaRPr>
          </a:p>
        </p:txBody>
      </p:sp>
      <p:pic>
        <p:nvPicPr>
          <p:cNvPr id="174" name="Picture 10"/>
          <p:cNvPicPr/>
          <p:nvPr/>
        </p:nvPicPr>
        <p:blipFill>
          <a:blip r:embed="rId3"/>
          <a:stretch/>
        </p:blipFill>
        <p:spPr>
          <a:xfrm>
            <a:off x="329400" y="1150920"/>
            <a:ext cx="11533320" cy="5351040"/>
          </a:xfrm>
          <a:prstGeom prst="rect">
            <a:avLst/>
          </a:prstGeom>
          <a:ln>
            <a:noFill/>
          </a:ln>
        </p:spPr>
      </p:pic>
      <p:sp>
        <p:nvSpPr>
          <p:cNvPr id="2" name="Slide Number Placeholder 3">
            <a:extLst>
              <a:ext uri="{FF2B5EF4-FFF2-40B4-BE49-F238E27FC236}">
                <a16:creationId xmlns:a16="http://schemas.microsoft.com/office/drawing/2014/main" id="{0FAF1909-39FE-5C83-BB0A-87F246962ECF}"/>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15</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ustomShape 1"/>
          <p:cNvSpPr/>
          <p:nvPr/>
        </p:nvSpPr>
        <p:spPr>
          <a:xfrm>
            <a:off x="363240" y="35568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a:solidFill>
                  <a:srgbClr val="000000"/>
                </a:solidFill>
                <a:latin typeface="Arial"/>
                <a:ea typeface="DejaVu Sans"/>
              </a:rPr>
              <a:t>NumPy (Numerical Python) </a:t>
            </a:r>
            <a:endParaRPr lang="en-US" sz="3000" b="0" strike="noStrike" spc="-1">
              <a:latin typeface="Arial"/>
            </a:endParaRPr>
          </a:p>
        </p:txBody>
      </p:sp>
      <p:pic>
        <p:nvPicPr>
          <p:cNvPr id="176" name="Graphic 1"/>
          <p:cNvPicPr/>
          <p:nvPr/>
        </p:nvPicPr>
        <p:blipFill>
          <a:blip r:embed="rId3"/>
          <a:stretch/>
        </p:blipFill>
        <p:spPr>
          <a:xfrm>
            <a:off x="1725181" y="5023260"/>
            <a:ext cx="3606480" cy="1433160"/>
          </a:xfrm>
          <a:prstGeom prst="rect">
            <a:avLst/>
          </a:prstGeom>
          <a:ln>
            <a:noFill/>
          </a:ln>
        </p:spPr>
      </p:pic>
      <p:sp>
        <p:nvSpPr>
          <p:cNvPr id="177" name="CustomShape 2"/>
          <p:cNvSpPr/>
          <p:nvPr/>
        </p:nvSpPr>
        <p:spPr>
          <a:xfrm>
            <a:off x="555120" y="1118160"/>
            <a:ext cx="5709600" cy="3872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Python does not support arrays or matrices and its mathematical support is limited and slow.</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NumPy was created to add support for arrays and matrices to Python.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Numpy adds support for high-level mathematical functions to operate on these arrays and matrices.</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Python documentation can be found at </a:t>
            </a:r>
            <a:r>
              <a:rPr lang="en-US" sz="1800" b="0" u="sng" strike="noStrike" spc="-1">
                <a:solidFill>
                  <a:srgbClr val="0000FF"/>
                </a:solidFill>
                <a:uFillTx/>
                <a:latin typeface="Arial"/>
                <a:ea typeface="DejaVu Sans"/>
                <a:hlinkClick r:id="rId4"/>
              </a:rPr>
              <a:t>https://numpy.org/doc/1.17/reference/index.html</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Numpy is limited in scope and is only designed to add numerical computing to phyton.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NumPy underpins nearly every scientific computing platform created for Python.</a:t>
            </a:r>
            <a:endParaRPr lang="en-US" sz="1800" b="0" strike="noStrike" spc="-1">
              <a:latin typeface="Arial"/>
            </a:endParaRPr>
          </a:p>
          <a:p>
            <a:pPr>
              <a:lnSpc>
                <a:spcPct val="100000"/>
              </a:lnSpc>
              <a:spcBef>
                <a:spcPts val="601"/>
              </a:spcBef>
            </a:pPr>
            <a:endParaRPr lang="en-US" sz="1800" b="0" strike="noStrike" spc="-1">
              <a:latin typeface="Arial"/>
            </a:endParaRPr>
          </a:p>
        </p:txBody>
      </p:sp>
      <p:pic>
        <p:nvPicPr>
          <p:cNvPr id="178" name="Picture 5"/>
          <p:cNvPicPr/>
          <p:nvPr/>
        </p:nvPicPr>
        <p:blipFill>
          <a:blip r:embed="rId5"/>
          <a:stretch/>
        </p:blipFill>
        <p:spPr>
          <a:xfrm>
            <a:off x="6273360" y="2629080"/>
            <a:ext cx="5573160" cy="3390480"/>
          </a:xfrm>
          <a:prstGeom prst="rect">
            <a:avLst/>
          </a:prstGeom>
          <a:ln>
            <a:noFill/>
          </a:ln>
        </p:spPr>
      </p:pic>
      <p:pic>
        <p:nvPicPr>
          <p:cNvPr id="179" name="Picture 6"/>
          <p:cNvPicPr/>
          <p:nvPr/>
        </p:nvPicPr>
        <p:blipFill>
          <a:blip r:embed="rId6"/>
          <a:stretch/>
        </p:blipFill>
        <p:spPr>
          <a:xfrm>
            <a:off x="6881400" y="986400"/>
            <a:ext cx="4357080" cy="1385280"/>
          </a:xfrm>
          <a:prstGeom prst="rect">
            <a:avLst/>
          </a:prstGeom>
          <a:ln>
            <a:noFill/>
          </a:ln>
        </p:spPr>
      </p:pic>
      <p:sp>
        <p:nvSpPr>
          <p:cNvPr id="180" name="CustomShape 3"/>
          <p:cNvSpPr/>
          <p:nvPr/>
        </p:nvSpPr>
        <p:spPr>
          <a:xfrm>
            <a:off x="1198800" y="3834000"/>
            <a:ext cx="6557400" cy="76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601"/>
              </a:spcBef>
            </a:pPr>
            <a:endParaRPr lang="en-US" sz="1800" b="0" strike="noStrike" spc="-1">
              <a:latin typeface="Arial"/>
            </a:endParaRPr>
          </a:p>
          <a:p>
            <a:pPr>
              <a:lnSpc>
                <a:spcPct val="100000"/>
              </a:lnSpc>
              <a:spcBef>
                <a:spcPts val="601"/>
              </a:spcBef>
            </a:pPr>
            <a:endParaRPr lang="en-US" sz="1800" b="0" strike="noStrike" spc="-1">
              <a:latin typeface="Arial"/>
            </a:endParaRPr>
          </a:p>
        </p:txBody>
      </p:sp>
      <p:sp>
        <p:nvSpPr>
          <p:cNvPr id="2" name="Slide Number Placeholder 3">
            <a:extLst>
              <a:ext uri="{FF2B5EF4-FFF2-40B4-BE49-F238E27FC236}">
                <a16:creationId xmlns:a16="http://schemas.microsoft.com/office/drawing/2014/main" id="{C1FBE2F6-D71F-3277-C806-BF1C4DEE5F0F}"/>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16</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CustomShape 1"/>
          <p:cNvSpPr/>
          <p:nvPr/>
        </p:nvSpPr>
        <p:spPr>
          <a:xfrm>
            <a:off x="363240" y="35568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a:solidFill>
                  <a:srgbClr val="000000"/>
                </a:solidFill>
                <a:latin typeface="Arial"/>
                <a:ea typeface="DejaVu Sans"/>
              </a:rPr>
              <a:t>Mapplotlib</a:t>
            </a:r>
            <a:endParaRPr lang="en-US" sz="3000" b="0" strike="noStrike" spc="-1">
              <a:latin typeface="Arial"/>
            </a:endParaRPr>
          </a:p>
        </p:txBody>
      </p:sp>
      <p:pic>
        <p:nvPicPr>
          <p:cNvPr id="182" name="Picture 1"/>
          <p:cNvPicPr/>
          <p:nvPr/>
        </p:nvPicPr>
        <p:blipFill>
          <a:blip r:embed="rId3"/>
          <a:stretch/>
        </p:blipFill>
        <p:spPr>
          <a:xfrm>
            <a:off x="6028920" y="986400"/>
            <a:ext cx="5799600" cy="4626720"/>
          </a:xfrm>
          <a:prstGeom prst="rect">
            <a:avLst/>
          </a:prstGeom>
          <a:ln>
            <a:noFill/>
          </a:ln>
        </p:spPr>
      </p:pic>
      <p:sp>
        <p:nvSpPr>
          <p:cNvPr id="183" name="CustomShape 2"/>
          <p:cNvSpPr/>
          <p:nvPr/>
        </p:nvSpPr>
        <p:spPr>
          <a:xfrm>
            <a:off x="497880" y="1213200"/>
            <a:ext cx="5397840" cy="3025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Matplotlib is a plotting library for Python.</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At one point it was formed by combining multiple liberies (pyplot and pylab). We will use pyplot as pylabs use is discouraged.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Pyplot is a Matplotlib module which provides a MATLAB-like interface.</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matplotlib documentation can be found at </a:t>
            </a:r>
            <a:r>
              <a:rPr lang="en-US" sz="1800" b="0" u="sng" strike="noStrike" spc="-1">
                <a:solidFill>
                  <a:srgbClr val="0000FF"/>
                </a:solidFill>
                <a:uFillTx/>
                <a:latin typeface="Arial"/>
                <a:ea typeface="DejaVu Sans"/>
                <a:hlinkClick r:id="rId4"/>
              </a:rPr>
              <a:t>https://matplotlib.org/3.1.1/api/index.html</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Pyplot documentation can be found at</a:t>
            </a:r>
            <a:r>
              <a:rPr lang="en-US" sz="1800" b="0" strike="noStrike" spc="-1">
                <a:solidFill>
                  <a:srgbClr val="0066B3"/>
                </a:solidFill>
                <a:latin typeface="Arial"/>
                <a:ea typeface="DejaVu Sans"/>
              </a:rPr>
              <a:t> </a:t>
            </a:r>
            <a:r>
              <a:rPr lang="en-US" sz="1800" b="0" strike="noStrike" spc="-1">
                <a:solidFill>
                  <a:srgbClr val="000000"/>
                </a:solidFill>
                <a:latin typeface="Arial"/>
                <a:ea typeface="DejaVu Sans"/>
                <a:hlinkClick r:id="rId5"/>
              </a:rPr>
              <a:t>https://matplotlib.org/3.1.1/api/_as_gen/matplotlib.pyplot.html#module-matplotlib.pyplot</a:t>
            </a:r>
            <a:endParaRPr lang="en-US" sz="1800" b="0" strike="noStrike" spc="-1">
              <a:latin typeface="Arial"/>
            </a:endParaRPr>
          </a:p>
        </p:txBody>
      </p:sp>
      <p:pic>
        <p:nvPicPr>
          <p:cNvPr id="184" name="Graphic 2"/>
          <p:cNvPicPr/>
          <p:nvPr/>
        </p:nvPicPr>
        <p:blipFill>
          <a:blip r:embed="rId6"/>
          <a:stretch/>
        </p:blipFill>
        <p:spPr>
          <a:xfrm>
            <a:off x="686880" y="5084280"/>
            <a:ext cx="4732920" cy="872640"/>
          </a:xfrm>
          <a:prstGeom prst="rect">
            <a:avLst/>
          </a:prstGeom>
          <a:ln>
            <a:noFill/>
          </a:ln>
        </p:spPr>
      </p:pic>
      <p:sp>
        <p:nvSpPr>
          <p:cNvPr id="2" name="Slide Number Placeholder 3">
            <a:extLst>
              <a:ext uri="{FF2B5EF4-FFF2-40B4-BE49-F238E27FC236}">
                <a16:creationId xmlns:a16="http://schemas.microsoft.com/office/drawing/2014/main" id="{F7512C91-B483-3796-259B-BB7240A525C1}"/>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17</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CustomShape 1"/>
          <p:cNvSpPr/>
          <p:nvPr/>
        </p:nvSpPr>
        <p:spPr>
          <a:xfrm>
            <a:off x="363240" y="35568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dirty="0">
                <a:solidFill>
                  <a:srgbClr val="000000"/>
                </a:solidFill>
                <a:latin typeface="Arial"/>
                <a:ea typeface="DejaVu Sans"/>
              </a:rPr>
              <a:t>SciPy (not </a:t>
            </a:r>
            <a:r>
              <a:rPr lang="en-US" sz="3000" b="0" strike="noStrike" spc="-1" dirty="0" err="1">
                <a:solidFill>
                  <a:srgbClr val="000000"/>
                </a:solidFill>
                <a:latin typeface="Arial"/>
                <a:ea typeface="DejaVu Sans"/>
              </a:rPr>
              <a:t>ScientificPython</a:t>
            </a:r>
            <a:r>
              <a:rPr lang="en-US" sz="3000" b="0" strike="noStrike" spc="-1" dirty="0">
                <a:solidFill>
                  <a:srgbClr val="000000"/>
                </a:solidFill>
                <a:latin typeface="Arial"/>
                <a:ea typeface="DejaVu Sans"/>
              </a:rPr>
              <a:t> but close enough) </a:t>
            </a:r>
            <a:endParaRPr lang="en-US" sz="3000" b="0" strike="noStrike" spc="-1" dirty="0">
              <a:latin typeface="Arial"/>
            </a:endParaRPr>
          </a:p>
        </p:txBody>
      </p:sp>
      <p:sp>
        <p:nvSpPr>
          <p:cNvPr id="186" name="CustomShape 2"/>
          <p:cNvSpPr/>
          <p:nvPr/>
        </p:nvSpPr>
        <p:spPr>
          <a:xfrm>
            <a:off x="555120" y="1118160"/>
            <a:ext cx="6222600" cy="4977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SciPy is a Python library used for scientific computing and technical computing.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SciPy builds on the NumPy array class and the capabilities of matplotlib.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SciPy contains modules for optimization, linear algebra, integration, interpolation, special functions, FFT, signal and image processing, ODE solvers and other tasks common in science and engineering.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SciPy and NumPy contain some duplicate capabilities (e.g., FFT). A common way to look as this is that the NumPy version is more bare-bones than the equivalent SciPy version.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SciPy documentation can be found at </a:t>
            </a:r>
            <a:r>
              <a:rPr lang="en-US" sz="1800" b="0" u="sng" strike="noStrike" spc="-1">
                <a:solidFill>
                  <a:srgbClr val="0000FF"/>
                </a:solidFill>
                <a:uFillTx/>
                <a:latin typeface="Arial"/>
                <a:ea typeface="DejaVu Sans"/>
                <a:hlinkClick r:id="rId3"/>
              </a:rPr>
              <a:t>https://docs.scipy.org/doc/scipy/reference/</a:t>
            </a:r>
            <a:endParaRPr lang="en-US" sz="1800" b="0" strike="noStrike" spc="-1">
              <a:latin typeface="Arial"/>
            </a:endParaRPr>
          </a:p>
          <a:p>
            <a:pPr>
              <a:lnSpc>
                <a:spcPct val="100000"/>
              </a:lnSpc>
              <a:spcBef>
                <a:spcPts val="601"/>
              </a:spcBef>
            </a:pPr>
            <a:endParaRPr lang="en-US" sz="1800" b="0" strike="noStrike" spc="-1">
              <a:latin typeface="Arial"/>
            </a:endParaRPr>
          </a:p>
        </p:txBody>
      </p:sp>
      <p:pic>
        <p:nvPicPr>
          <p:cNvPr id="187" name="Picture 5"/>
          <p:cNvPicPr/>
          <p:nvPr/>
        </p:nvPicPr>
        <p:blipFill>
          <a:blip r:embed="rId4"/>
          <a:stretch/>
        </p:blipFill>
        <p:spPr>
          <a:xfrm>
            <a:off x="7725240" y="1294920"/>
            <a:ext cx="3603960" cy="2402640"/>
          </a:xfrm>
          <a:prstGeom prst="rect">
            <a:avLst/>
          </a:prstGeom>
          <a:ln>
            <a:noFill/>
          </a:ln>
        </p:spPr>
      </p:pic>
      <p:sp>
        <p:nvSpPr>
          <p:cNvPr id="188" name="CustomShape 3"/>
          <p:cNvSpPr/>
          <p:nvPr/>
        </p:nvSpPr>
        <p:spPr>
          <a:xfrm>
            <a:off x="6883920" y="933480"/>
            <a:ext cx="33433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1" strike="noStrike" spc="-1">
                <a:solidFill>
                  <a:srgbClr val="000000"/>
                </a:solidFill>
                <a:latin typeface="Arial"/>
                <a:ea typeface="DejaVu Sans"/>
              </a:rPr>
              <a:t>Optimization (scipy.optimize)</a:t>
            </a:r>
            <a:endParaRPr lang="en-US" sz="1800" b="0" strike="noStrike" spc="-1">
              <a:latin typeface="Arial"/>
            </a:endParaRPr>
          </a:p>
        </p:txBody>
      </p:sp>
      <p:pic>
        <p:nvPicPr>
          <p:cNvPr id="189" name="Picture 8"/>
          <p:cNvPicPr/>
          <p:nvPr/>
        </p:nvPicPr>
        <p:blipFill>
          <a:blip r:embed="rId5"/>
          <a:srcRect l="25693" t="6601" r="21775" b="9423"/>
          <a:stretch/>
        </p:blipFill>
        <p:spPr>
          <a:xfrm>
            <a:off x="6816240" y="4077360"/>
            <a:ext cx="2563920" cy="2539080"/>
          </a:xfrm>
          <a:prstGeom prst="rect">
            <a:avLst/>
          </a:prstGeom>
          <a:ln>
            <a:noFill/>
          </a:ln>
        </p:spPr>
      </p:pic>
      <p:pic>
        <p:nvPicPr>
          <p:cNvPr id="190" name="Picture 9"/>
          <p:cNvPicPr/>
          <p:nvPr/>
        </p:nvPicPr>
        <p:blipFill>
          <a:blip r:embed="rId6"/>
          <a:srcRect l="26937" t="6693" r="20540" b="9331"/>
          <a:stretch/>
        </p:blipFill>
        <p:spPr>
          <a:xfrm>
            <a:off x="9385920" y="4077360"/>
            <a:ext cx="2563920" cy="2539080"/>
          </a:xfrm>
          <a:prstGeom prst="rect">
            <a:avLst/>
          </a:prstGeom>
          <a:ln>
            <a:noFill/>
          </a:ln>
        </p:spPr>
      </p:pic>
      <p:sp>
        <p:nvSpPr>
          <p:cNvPr id="191" name="CustomShape 4"/>
          <p:cNvSpPr/>
          <p:nvPr/>
        </p:nvSpPr>
        <p:spPr>
          <a:xfrm>
            <a:off x="6956640" y="3725640"/>
            <a:ext cx="37364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1" strike="noStrike" spc="-1">
                <a:solidFill>
                  <a:srgbClr val="000000"/>
                </a:solidFill>
                <a:latin typeface="Arial"/>
                <a:ea typeface="DejaVu Sans"/>
              </a:rPr>
              <a:t>Signal Processing (scipy.signal) </a:t>
            </a:r>
            <a:endParaRPr lang="en-US" sz="1800" b="0" strike="noStrike" spc="-1">
              <a:latin typeface="Arial"/>
            </a:endParaRPr>
          </a:p>
        </p:txBody>
      </p:sp>
      <p:pic>
        <p:nvPicPr>
          <p:cNvPr id="192" name="Graphic 16"/>
          <p:cNvPicPr/>
          <p:nvPr/>
        </p:nvPicPr>
        <p:blipFill>
          <a:blip r:embed="rId7"/>
          <a:stretch/>
        </p:blipFill>
        <p:spPr>
          <a:xfrm>
            <a:off x="1546788" y="5617125"/>
            <a:ext cx="4326251" cy="739633"/>
          </a:xfrm>
          <a:prstGeom prst="rect">
            <a:avLst/>
          </a:prstGeom>
          <a:ln>
            <a:noFill/>
          </a:ln>
        </p:spPr>
      </p:pic>
      <p:sp>
        <p:nvSpPr>
          <p:cNvPr id="2" name="Slide Number Placeholder 3">
            <a:extLst>
              <a:ext uri="{FF2B5EF4-FFF2-40B4-BE49-F238E27FC236}">
                <a16:creationId xmlns:a16="http://schemas.microsoft.com/office/drawing/2014/main" id="{014106D8-1CC2-D293-9DB3-20404D0A0761}"/>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18</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CustomShape 1"/>
          <p:cNvSpPr/>
          <p:nvPr/>
        </p:nvSpPr>
        <p:spPr>
          <a:xfrm>
            <a:off x="363240" y="35568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a:solidFill>
                  <a:srgbClr val="000000"/>
                </a:solidFill>
                <a:latin typeface="Arial"/>
                <a:ea typeface="DejaVu Sans"/>
              </a:rPr>
              <a:t>scikit-learn (also called sklearn) </a:t>
            </a:r>
            <a:endParaRPr lang="en-US" sz="3000" b="0" strike="noStrike" spc="-1">
              <a:latin typeface="Arial"/>
            </a:endParaRPr>
          </a:p>
        </p:txBody>
      </p:sp>
      <p:sp>
        <p:nvSpPr>
          <p:cNvPr id="194" name="CustomShape 2"/>
          <p:cNvSpPr/>
          <p:nvPr/>
        </p:nvSpPr>
        <p:spPr>
          <a:xfrm>
            <a:off x="555120" y="1118160"/>
            <a:ext cx="6222600" cy="3786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Sklearn is a machine learning library for Python.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It features various classification, regression and clustering algorithms including support vector machines, random forests, gradient boosting, k-means and DBSCAN.</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Sklearn is designed to interoperate with the Python numerical and scientific libraries NumPy and SciPy.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Sklearn documentation can be found at</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u="sng" strike="noStrike" spc="-1">
                <a:solidFill>
                  <a:srgbClr val="0000FF"/>
                </a:solidFill>
                <a:uFillTx/>
                <a:latin typeface="Arial"/>
                <a:ea typeface="DejaVu Sans"/>
                <a:hlinkClick r:id="rId3"/>
              </a:rPr>
              <a:t>https://scikit-learn.org/stable/user_guide.html</a:t>
            </a:r>
            <a:endParaRPr lang="en-US" sz="1800" b="0" strike="noStrike" spc="-1">
              <a:latin typeface="Arial"/>
            </a:endParaRPr>
          </a:p>
        </p:txBody>
      </p:sp>
      <p:sp>
        <p:nvSpPr>
          <p:cNvPr id="195" name="CustomShape 3"/>
          <p:cNvSpPr/>
          <p:nvPr/>
        </p:nvSpPr>
        <p:spPr>
          <a:xfrm>
            <a:off x="6879600" y="422640"/>
            <a:ext cx="17920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1" strike="noStrike" spc="-1">
                <a:solidFill>
                  <a:srgbClr val="000000"/>
                </a:solidFill>
                <a:latin typeface="Arial"/>
                <a:ea typeface="DejaVu Sans"/>
              </a:rPr>
              <a:t>Decision Trees</a:t>
            </a:r>
            <a:endParaRPr lang="en-US" sz="1800" b="0" strike="noStrike" spc="-1">
              <a:latin typeface="Arial"/>
            </a:endParaRPr>
          </a:p>
        </p:txBody>
      </p:sp>
      <p:sp>
        <p:nvSpPr>
          <p:cNvPr id="196" name="CustomShape 4"/>
          <p:cNvSpPr/>
          <p:nvPr/>
        </p:nvSpPr>
        <p:spPr>
          <a:xfrm>
            <a:off x="6876000" y="3725640"/>
            <a:ext cx="131184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1" strike="noStrike" spc="-1">
                <a:solidFill>
                  <a:srgbClr val="000000"/>
                </a:solidFill>
                <a:latin typeface="Arial"/>
                <a:ea typeface="DejaVu Sans"/>
              </a:rPr>
              <a:t>Clustering</a:t>
            </a:r>
            <a:endParaRPr lang="en-US" sz="1800" b="0" strike="noStrike" spc="-1">
              <a:latin typeface="Arial"/>
            </a:endParaRPr>
          </a:p>
        </p:txBody>
      </p:sp>
      <p:pic>
        <p:nvPicPr>
          <p:cNvPr id="197" name="Picture 2"/>
          <p:cNvPicPr/>
          <p:nvPr/>
        </p:nvPicPr>
        <p:blipFill>
          <a:blip r:embed="rId4"/>
          <a:srcRect l="10175" t="11197" r="7459" b="10047"/>
          <a:stretch/>
        </p:blipFill>
        <p:spPr>
          <a:xfrm>
            <a:off x="7448400" y="4095000"/>
            <a:ext cx="4403880" cy="2452680"/>
          </a:xfrm>
          <a:prstGeom prst="rect">
            <a:avLst/>
          </a:prstGeom>
          <a:ln>
            <a:noFill/>
          </a:ln>
        </p:spPr>
      </p:pic>
      <p:pic>
        <p:nvPicPr>
          <p:cNvPr id="198" name="Picture 3"/>
          <p:cNvPicPr/>
          <p:nvPr/>
        </p:nvPicPr>
        <p:blipFill>
          <a:blip r:embed="rId5"/>
          <a:srcRect l="12969" t="13748" r="9219" b="13331"/>
          <a:stretch/>
        </p:blipFill>
        <p:spPr>
          <a:xfrm>
            <a:off x="7607520" y="858960"/>
            <a:ext cx="4086000" cy="2871360"/>
          </a:xfrm>
          <a:prstGeom prst="rect">
            <a:avLst/>
          </a:prstGeom>
          <a:ln>
            <a:noFill/>
          </a:ln>
        </p:spPr>
      </p:pic>
      <p:pic>
        <p:nvPicPr>
          <p:cNvPr id="199" name="Graphic 4"/>
          <p:cNvPicPr/>
          <p:nvPr/>
        </p:nvPicPr>
        <p:blipFill>
          <a:blip r:embed="rId6"/>
          <a:stretch/>
        </p:blipFill>
        <p:spPr>
          <a:xfrm>
            <a:off x="1858680" y="4423680"/>
            <a:ext cx="3309480" cy="1794960"/>
          </a:xfrm>
          <a:prstGeom prst="rect">
            <a:avLst/>
          </a:prstGeom>
          <a:ln>
            <a:noFill/>
          </a:ln>
        </p:spPr>
      </p:pic>
      <p:sp>
        <p:nvSpPr>
          <p:cNvPr id="2" name="Slide Number Placeholder 3">
            <a:extLst>
              <a:ext uri="{FF2B5EF4-FFF2-40B4-BE49-F238E27FC236}">
                <a16:creationId xmlns:a16="http://schemas.microsoft.com/office/drawing/2014/main" id="{5E4EC3DB-73C1-E97C-FE48-85C76C3C893E}"/>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19</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CustomShape 1"/>
          <p:cNvSpPr/>
          <p:nvPr/>
        </p:nvSpPr>
        <p:spPr>
          <a:xfrm>
            <a:off x="363240" y="35568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a:solidFill>
                  <a:srgbClr val="000000"/>
                </a:solidFill>
                <a:latin typeface="Arial"/>
                <a:ea typeface="DejaVu Sans"/>
              </a:rPr>
              <a:t>Conclusions:</a:t>
            </a:r>
            <a:endParaRPr lang="en-US" sz="3000" b="0" strike="noStrike" spc="-1">
              <a:latin typeface="Arial"/>
            </a:endParaRPr>
          </a:p>
        </p:txBody>
      </p:sp>
      <p:sp>
        <p:nvSpPr>
          <p:cNvPr id="204" name="CustomShape 2"/>
          <p:cNvSpPr/>
          <p:nvPr/>
        </p:nvSpPr>
        <p:spPr>
          <a:xfrm>
            <a:off x="555120" y="1118160"/>
            <a:ext cx="6222600" cy="4977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Python is great, but not useful for scientific computing. </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Scientific modules have been developed for python to expand its usefulness into scientific computing. The major packages are:</a:t>
            </a:r>
            <a:endParaRPr lang="en-US" sz="1800" b="0" strike="noStrike" spc="-1">
              <a:latin typeface="Arial"/>
            </a:endParaRPr>
          </a:p>
          <a:p>
            <a:pPr marL="743040" lvl="1"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NumPy</a:t>
            </a:r>
            <a:endParaRPr lang="en-US" sz="1800" b="0" strike="noStrike" spc="-1">
              <a:latin typeface="Arial"/>
            </a:endParaRPr>
          </a:p>
          <a:p>
            <a:pPr marL="743040" lvl="1"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Matplotlib</a:t>
            </a:r>
            <a:endParaRPr lang="en-US" sz="1800" b="0" strike="noStrike" spc="-1">
              <a:latin typeface="Arial"/>
            </a:endParaRPr>
          </a:p>
          <a:p>
            <a:pPr marL="1200240" lvl="2"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Pyplot</a:t>
            </a:r>
            <a:endParaRPr lang="en-US" sz="1800" b="0" strike="noStrike" spc="-1">
              <a:latin typeface="Arial"/>
            </a:endParaRPr>
          </a:p>
          <a:p>
            <a:pPr marL="743040" lvl="1"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SciPy</a:t>
            </a:r>
            <a:endParaRPr lang="en-US" sz="1800" b="0" strike="noStrike" spc="-1">
              <a:latin typeface="Arial"/>
            </a:endParaRPr>
          </a:p>
          <a:p>
            <a:pPr marL="743040" lvl="1"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Sklearn</a:t>
            </a:r>
            <a:endParaRPr lang="en-US" sz="1800" b="0" strike="noStrike" spc="-1">
              <a:latin typeface="Arial"/>
            </a:endParaRPr>
          </a:p>
          <a:p>
            <a:pPr marL="285840" indent="-285480">
              <a:lnSpc>
                <a:spcPct val="100000"/>
              </a:lnSpc>
              <a:spcBef>
                <a:spcPts val="601"/>
              </a:spcBef>
              <a:buClr>
                <a:srgbClr val="000000"/>
              </a:buClr>
              <a:buFont typeface="Arial"/>
              <a:buChar char="•"/>
            </a:pPr>
            <a:r>
              <a:rPr lang="en-US" sz="1800" b="0" strike="noStrike" spc="-1">
                <a:solidFill>
                  <a:srgbClr val="000000"/>
                </a:solidFill>
                <a:latin typeface="Arial"/>
                <a:ea typeface="DejaVu Sans"/>
              </a:rPr>
              <a:t>We code in a Integrated Development Environment (IDE) of which there are lots, we used Spyder in our examples. </a:t>
            </a:r>
            <a:endParaRPr lang="en-US" sz="1800" b="0" strike="noStrike" spc="-1">
              <a:latin typeface="Arial"/>
            </a:endParaRPr>
          </a:p>
          <a:p>
            <a:pPr>
              <a:lnSpc>
                <a:spcPct val="100000"/>
              </a:lnSpc>
              <a:spcBef>
                <a:spcPts val="601"/>
              </a:spcBef>
            </a:pPr>
            <a:endParaRPr lang="en-US" sz="1800" b="0" strike="noStrike" spc="-1">
              <a:latin typeface="Arial"/>
            </a:endParaRPr>
          </a:p>
          <a:p>
            <a:pPr>
              <a:lnSpc>
                <a:spcPct val="100000"/>
              </a:lnSpc>
              <a:spcBef>
                <a:spcPts val="601"/>
              </a:spcBef>
            </a:pPr>
            <a:endParaRPr lang="en-US" sz="1800" b="0" strike="noStrike" spc="-1">
              <a:latin typeface="Arial"/>
            </a:endParaRPr>
          </a:p>
        </p:txBody>
      </p:sp>
      <p:pic>
        <p:nvPicPr>
          <p:cNvPr id="205" name="Picture 3"/>
          <p:cNvPicPr/>
          <p:nvPr/>
        </p:nvPicPr>
        <p:blipFill>
          <a:blip r:embed="rId3"/>
          <a:stretch/>
        </p:blipFill>
        <p:spPr>
          <a:xfrm>
            <a:off x="7296840" y="743040"/>
            <a:ext cx="4339800" cy="4566240"/>
          </a:xfrm>
          <a:prstGeom prst="rect">
            <a:avLst/>
          </a:prstGeom>
          <a:ln>
            <a:noFill/>
          </a:ln>
        </p:spPr>
      </p:pic>
      <p:sp>
        <p:nvSpPr>
          <p:cNvPr id="2" name="Slide Number Placeholder 3">
            <a:extLst>
              <a:ext uri="{FF2B5EF4-FFF2-40B4-BE49-F238E27FC236}">
                <a16:creationId xmlns:a16="http://schemas.microsoft.com/office/drawing/2014/main" id="{7D6838B0-DCC9-D716-AB24-190649A60795}"/>
              </a:ext>
            </a:extLst>
          </p:cNvPr>
          <p:cNvSpPr txBox="1">
            <a:spLocks/>
          </p:cNvSpPr>
          <p:nvPr/>
        </p:nvSpPr>
        <p:spPr>
          <a:xfrm>
            <a:off x="838200" y="5991633"/>
            <a:ext cx="258783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E9AFF7-6653-6A4D-A979-64D2F5BECA26}" type="slidenum">
              <a:rPr lang="en-US" smtClean="0"/>
              <a:pPr/>
              <a:t>20</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CustomShape 1"/>
          <p:cNvSpPr/>
          <p:nvPr/>
        </p:nvSpPr>
        <p:spPr>
          <a:xfrm>
            <a:off x="517320" y="580320"/>
            <a:ext cx="10507680" cy="630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3000" b="0" strike="noStrike" spc="-1" dirty="0">
                <a:solidFill>
                  <a:srgbClr val="000000"/>
                </a:solidFill>
                <a:latin typeface="Arial"/>
                <a:ea typeface="DejaVu Sans"/>
              </a:rPr>
              <a:t>Example #3 – Data processing (FFT) in SciPy</a:t>
            </a:r>
            <a:endParaRPr lang="en-US" sz="3000" b="0" strike="noStrike" spc="-1" dirty="0">
              <a:latin typeface="Arial"/>
            </a:endParaRPr>
          </a:p>
        </p:txBody>
      </p:sp>
      <p:pic>
        <p:nvPicPr>
          <p:cNvPr id="3" name="Picture 2">
            <a:extLst>
              <a:ext uri="{FF2B5EF4-FFF2-40B4-BE49-F238E27FC236}">
                <a16:creationId xmlns:a16="http://schemas.microsoft.com/office/drawing/2014/main" id="{585AC10B-FCD4-4533-BC89-8599746BAB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901" y="1376648"/>
            <a:ext cx="10278198" cy="4345466"/>
          </a:xfrm>
          <a:prstGeom prst="rect">
            <a:avLst/>
          </a:prstGeom>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4FC6-FE3D-7B45-84BE-3C726AB1D86B}"/>
              </a:ext>
            </a:extLst>
          </p:cNvPr>
          <p:cNvSpPr>
            <a:spLocks noGrp="1"/>
          </p:cNvSpPr>
          <p:nvPr>
            <p:ph type="title"/>
          </p:nvPr>
        </p:nvSpPr>
        <p:spPr/>
        <p:txBody>
          <a:bodyPr/>
          <a:lstStyle/>
          <a:p>
            <a:r>
              <a:rPr lang="en-US" dirty="0"/>
              <a:t>Thank You for Your Time</a:t>
            </a:r>
          </a:p>
        </p:txBody>
      </p:sp>
      <p:sp>
        <p:nvSpPr>
          <p:cNvPr id="3" name="Text Placeholder 2">
            <a:extLst>
              <a:ext uri="{FF2B5EF4-FFF2-40B4-BE49-F238E27FC236}">
                <a16:creationId xmlns:a16="http://schemas.microsoft.com/office/drawing/2014/main" id="{83A473F4-C73D-8C4A-8929-A707A37594D9}"/>
              </a:ext>
            </a:extLst>
          </p:cNvPr>
          <p:cNvSpPr>
            <a:spLocks noGrp="1"/>
          </p:cNvSpPr>
          <p:nvPr>
            <p:ph type="body" idx="1"/>
          </p:nvPr>
        </p:nvSpPr>
        <p:spPr/>
        <p:txBody>
          <a:bodyPr/>
          <a:lstStyle/>
          <a:p>
            <a:pPr>
              <a:lnSpc>
                <a:spcPct val="100000"/>
              </a:lnSpc>
              <a:spcBef>
                <a:spcPts val="0"/>
              </a:spcBef>
            </a:pPr>
            <a:r>
              <a:rPr lang="en-US" dirty="0"/>
              <a:t>Name: Austin R.J. Downey</a:t>
            </a:r>
          </a:p>
          <a:p>
            <a:pPr>
              <a:lnSpc>
                <a:spcPct val="100000"/>
              </a:lnSpc>
              <a:spcBef>
                <a:spcPts val="0"/>
              </a:spcBef>
            </a:pPr>
            <a:r>
              <a:rPr lang="en-US" dirty="0"/>
              <a:t>Title: Associate Professor</a:t>
            </a:r>
          </a:p>
          <a:p>
            <a:pPr>
              <a:lnSpc>
                <a:spcPct val="100000"/>
              </a:lnSpc>
              <a:spcBef>
                <a:spcPts val="0"/>
              </a:spcBef>
            </a:pPr>
            <a:r>
              <a:rPr lang="en-US" dirty="0"/>
              <a:t>Email: austindowney@sc.edu</a:t>
            </a:r>
          </a:p>
          <a:p>
            <a:pPr>
              <a:lnSpc>
                <a:spcPct val="100000"/>
              </a:lnSpc>
              <a:spcBef>
                <a:spcPts val="0"/>
              </a:spcBef>
            </a:pPr>
            <a:r>
              <a:rPr lang="en-US" dirty="0"/>
              <a:t>Lab GitHub: github.com/arts-laboratory</a:t>
            </a:r>
          </a:p>
        </p:txBody>
      </p:sp>
    </p:spTree>
    <p:extLst>
      <p:ext uri="{BB962C8B-B14F-4D97-AF65-F5344CB8AC3E}">
        <p14:creationId xmlns:p14="http://schemas.microsoft.com/office/powerpoint/2010/main" val="3387642774"/>
      </p:ext>
    </p:extLst>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E35BC0C-4535-7F41-8EDB-CB375E44534D}" vid="{89EE9AB1-1FC3-EE42-B60A-9165AA834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usc_engineering_powerpoint</Template>
  <TotalTime>63</TotalTime>
  <Words>1349</Words>
  <Application>Microsoft Office PowerPoint</Application>
  <PresentationFormat>Widescreen</PresentationFormat>
  <Paragraphs>172</Paragraphs>
  <Slides>22</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Black</vt:lpstr>
      <vt:lpstr>Calibri</vt:lpstr>
      <vt:lpstr>DejaVu Sans</vt:lpstr>
      <vt:lpstr>Linux Libertine</vt:lpstr>
      <vt:lpstr>Times New Roman</vt:lpstr>
      <vt:lpstr>UofSC Simple Theme</vt:lpstr>
      <vt:lpstr>Engineering Problem Solving in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Austin Downey</dc:creator>
  <cp:lastModifiedBy>Downey, Austin</cp:lastModifiedBy>
  <cp:revision>17</cp:revision>
  <dcterms:created xsi:type="dcterms:W3CDTF">2024-06-17T18:22:44Z</dcterms:created>
  <dcterms:modified xsi:type="dcterms:W3CDTF">2025-10-27T22:23:55Z</dcterms:modified>
</cp:coreProperties>
</file>